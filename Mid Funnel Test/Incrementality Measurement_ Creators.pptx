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  <p:sldMasterId id="214748369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Nunito Sans Light"/>
      <p:regular r:id="rId15"/>
      <p:bold r:id="rId16"/>
      <p:italic r:id="rId17"/>
      <p:boldItalic r:id="rId18"/>
    </p:embeddedFont>
    <p:embeddedFont>
      <p:font typeface="Nunito"/>
      <p:regular r:id="rId19"/>
      <p:bold r:id="rId20"/>
      <p:italic r:id="rId21"/>
      <p:boldItalic r:id="rId22"/>
    </p:embeddedFont>
    <p:embeddedFont>
      <p:font typeface="Nunito Sans Black"/>
      <p:bold r:id="rId23"/>
      <p:boldItalic r:id="rId24"/>
    </p:embeddedFont>
    <p:embeddedFont>
      <p:font typeface="Helvetica Neue"/>
      <p:regular r:id="rId25"/>
      <p:bold r:id="rId26"/>
      <p:italic r:id="rId27"/>
      <p:boldItalic r:id="rId28"/>
    </p:embeddedFont>
    <p:embeddedFont>
      <p:font typeface="Inter Tight"/>
      <p:regular r:id="rId29"/>
      <p:bold r:id="rId30"/>
      <p:italic r:id="rId31"/>
      <p:boldItalic r:id="rId32"/>
    </p:embeddedFont>
    <p:embeddedFont>
      <p:font typeface="Nunito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NunitoSansBlack-boldItalic.fntdata"/><Relationship Id="rId23" Type="http://schemas.openxmlformats.org/officeDocument/2006/relationships/font" Target="fonts/NunitoSansBlack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T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Tight-italic.fntdata"/><Relationship Id="rId30" Type="http://schemas.openxmlformats.org/officeDocument/2006/relationships/font" Target="fonts/InterTight-bold.fntdata"/><Relationship Id="rId11" Type="http://schemas.openxmlformats.org/officeDocument/2006/relationships/slide" Target="slides/slide5.xml"/><Relationship Id="rId33" Type="http://schemas.openxmlformats.org/officeDocument/2006/relationships/font" Target="fonts/NunitoSans-regular.fntdata"/><Relationship Id="rId10" Type="http://schemas.openxmlformats.org/officeDocument/2006/relationships/slide" Target="slides/slide4.xml"/><Relationship Id="rId32" Type="http://schemas.openxmlformats.org/officeDocument/2006/relationships/font" Target="fonts/InterTight-boldItalic.fntdata"/><Relationship Id="rId13" Type="http://schemas.openxmlformats.org/officeDocument/2006/relationships/slide" Target="slides/slide7.xml"/><Relationship Id="rId35" Type="http://schemas.openxmlformats.org/officeDocument/2006/relationships/font" Target="fonts/NunitoSans-italic.fntdata"/><Relationship Id="rId12" Type="http://schemas.openxmlformats.org/officeDocument/2006/relationships/slide" Target="slides/slide6.xml"/><Relationship Id="rId34" Type="http://schemas.openxmlformats.org/officeDocument/2006/relationships/font" Target="fonts/NunitoSans-bold.fntdata"/><Relationship Id="rId15" Type="http://schemas.openxmlformats.org/officeDocument/2006/relationships/font" Target="fonts/NunitoSansLight-regular.fntdata"/><Relationship Id="rId14" Type="http://schemas.openxmlformats.org/officeDocument/2006/relationships/slide" Target="slides/slide8.xml"/><Relationship Id="rId36" Type="http://schemas.openxmlformats.org/officeDocument/2006/relationships/font" Target="fonts/NunitoSans-boldItalic.fntdata"/><Relationship Id="rId17" Type="http://schemas.openxmlformats.org/officeDocument/2006/relationships/font" Target="fonts/NunitoSansLight-italic.fntdata"/><Relationship Id="rId16" Type="http://schemas.openxmlformats.org/officeDocument/2006/relationships/font" Target="fonts/NunitoSansLight-bold.fntdata"/><Relationship Id="rId19" Type="http://schemas.openxmlformats.org/officeDocument/2006/relationships/font" Target="fonts/Nunito-regular.fntdata"/><Relationship Id="rId18" Type="http://schemas.openxmlformats.org/officeDocument/2006/relationships/font" Target="fonts/NunitoSans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6e9db2b3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6e9db2b3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6e9db2b31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86e9db2b31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6e9db2b31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6e9db2b31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6e9db2b31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86e9db2b31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6e9db2b31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86e9db2b31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6e9db2b31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86e9db2b31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6e9db2b31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6e9db2b31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6e9db2b31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6e9db2b31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chime.atlassian.net/wiki/spaces/PM/pages/1596817685/Chime%27s+OKRs?atlOrigin=eyJpIjoiNzhlOGUzZTFhZTdhNDE5NjkwNWVkYTg2OTA1NGQ5NDAiLCJwIjoiYyJ9" TargetMode="External"/><Relationship Id="rId3" Type="http://schemas.openxmlformats.org/officeDocument/2006/relationships/hyperlink" Target="https://chime.atlassian.net/wiki/spaces/~628c8891ab963e006fe7a936/pages/2215510141/MSEO+Channel+Agent+Experience" TargetMode="External"/><Relationship Id="rId4" Type="http://schemas.openxmlformats.org/officeDocument/2006/relationships/image" Target="../media/image4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- Green 900">
  <p:cSld name="TITLE_AND_TWO_COLUMNS_4_1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238275" y="1751250"/>
            <a:ext cx="6477000" cy="16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- Green 50">
  <p:cSld name="TITLE_AND_TWO_COLUMNS_4_1_1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238275" y="1751250"/>
            <a:ext cx="6477000" cy="16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- Green 900 with Speaker Info">
  <p:cSld name="TITLE_AND_TWO_COLUMNS_4_1_1_2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238275" y="1305150"/>
            <a:ext cx="50115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Helvetica Neue"/>
              <a:buNone/>
              <a:defRPr b="1" sz="6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1" name="Google Shape;61;p16"/>
          <p:cNvSpPr/>
          <p:nvPr>
            <p:ph idx="2" type="pic"/>
          </p:nvPr>
        </p:nvSpPr>
        <p:spPr>
          <a:xfrm>
            <a:off x="6115175" y="1427325"/>
            <a:ext cx="2073900" cy="207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 Blank">
  <p:cSld name="TITLE_AND_TWO_COLUMNS_4_1_1_1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 Blank with footer">
  <p:cSld name="TITLE_AND_TWO_COLUMNS_4_1_1_1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/>
        </p:nvSpPr>
        <p:spPr>
          <a:xfrm>
            <a:off x="8100239" y="4867521"/>
            <a:ext cx="8094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</a:t>
            </a:r>
            <a:fld id="{00000000-1234-1234-1234-123412341234}" type="slidenum">
              <a:rPr b="1" lang="en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5075" y="4814261"/>
            <a:ext cx="569139" cy="1639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 Blank with fine print">
  <p:cSld name="TITLE_AND_TWO_COLUMNS_4_1_1_1_1_2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/>
        </p:nvSpPr>
        <p:spPr>
          <a:xfrm>
            <a:off x="8100239" y="4867521"/>
            <a:ext cx="8094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</a:t>
            </a:r>
            <a:fld id="{00000000-1234-1234-1234-123412341234}" type="slidenum">
              <a:rPr b="1" lang="en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1" name="Google Shape;7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5075" y="4814261"/>
            <a:ext cx="569139" cy="1639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/>
          <p:nvPr/>
        </p:nvSpPr>
        <p:spPr>
          <a:xfrm>
            <a:off x="1709725" y="4864625"/>
            <a:ext cx="60507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2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*Fine print related to either graphs go here.</a:t>
            </a:r>
            <a:endParaRPr sz="82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Agenda">
  <p:cSld name="TITLE_AND_TWO_COLUMNS_4_1_1_1_1_1"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238625" y="950925"/>
            <a:ext cx="49827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Helvetica Neue"/>
              <a:buNone/>
              <a:defRPr b="1" sz="2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6" name="Google Shape;76;p20"/>
          <p:cNvSpPr/>
          <p:nvPr>
            <p:ph idx="2" type="pic"/>
          </p:nvPr>
        </p:nvSpPr>
        <p:spPr>
          <a:xfrm>
            <a:off x="6097275" y="1005225"/>
            <a:ext cx="2816400" cy="3799200"/>
          </a:xfrm>
          <a:prstGeom prst="roundRect">
            <a:avLst>
              <a:gd fmla="val 5965" name="adj"/>
            </a:avLst>
          </a:prstGeom>
          <a:noFill/>
          <a:ln>
            <a:noFill/>
          </a:ln>
        </p:spPr>
      </p:sp>
      <p:sp>
        <p:nvSpPr>
          <p:cNvPr id="77" name="Google Shape;77;p20"/>
          <p:cNvSpPr txBox="1"/>
          <p:nvPr>
            <p:ph idx="3" type="title"/>
          </p:nvPr>
        </p:nvSpPr>
        <p:spPr>
          <a:xfrm>
            <a:off x="238625" y="168039"/>
            <a:ext cx="86349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Section Page">
  <p:cSld name="TITLE_AND_TWO_COLUMNS_4_1_1_1_1_1_2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238275" y="1432800"/>
            <a:ext cx="6477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Helvetica Neue"/>
              <a:buNone/>
              <a:defRPr b="1" sz="6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Statement - Green 50">
  <p:cSld name="TITLE_AND_TWO_COLUMNS_4_1_1_1_1_1_1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/>
          <p:nvPr>
            <p:ph type="title"/>
          </p:nvPr>
        </p:nvSpPr>
        <p:spPr>
          <a:xfrm>
            <a:off x="236748" y="174825"/>
            <a:ext cx="86637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84" name="Google Shape;84;p22"/>
          <p:cNvSpPr txBox="1"/>
          <p:nvPr>
            <p:ph idx="1" type="subTitle"/>
          </p:nvPr>
        </p:nvSpPr>
        <p:spPr>
          <a:xfrm>
            <a:off x="236741" y="903650"/>
            <a:ext cx="8663700" cy="31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Font typeface="Helvetica Neue"/>
              <a:buNone/>
              <a:defRPr b="1" sz="3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Statement - Chime green">
  <p:cSld name="TITLE_AND_TWO_COLUMNS_4_1_1_1_1_1_1_1">
    <p:bg>
      <p:bgPr>
        <a:solidFill>
          <a:schemeClr val="dk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236750" y="1153375"/>
            <a:ext cx="86637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88" name="Google Shape;88;p23"/>
          <p:cNvSpPr txBox="1"/>
          <p:nvPr>
            <p:ph idx="1" type="subTitle"/>
          </p:nvPr>
        </p:nvSpPr>
        <p:spPr>
          <a:xfrm>
            <a:off x="236750" y="1731924"/>
            <a:ext cx="7206300" cy="27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Font typeface="Helvetica Neue"/>
              <a:buNone/>
              <a:defRPr b="1" sz="5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Full page with single subtext">
  <p:cSld name="TITLE_AND_TWO_COLUMNS_4_1_1_1_1_1_1_1_1_1"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subTitle"/>
          </p:nvPr>
        </p:nvSpPr>
        <p:spPr>
          <a:xfrm>
            <a:off x="3174625" y="192525"/>
            <a:ext cx="5735100" cy="46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2" name="Google Shape;92;p24"/>
          <p:cNvSpPr txBox="1"/>
          <p:nvPr>
            <p:ph type="title"/>
          </p:nvPr>
        </p:nvSpPr>
        <p:spPr>
          <a:xfrm>
            <a:off x="220700" y="165468"/>
            <a:ext cx="2106000" cy="46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Full page">
  <p:cSld name="TITLE_AND_TWO_COLUMNS_4_1_1_1_1_1_1_1_1_1_1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220700" y="165475"/>
            <a:ext cx="86889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Full page - Green 300">
  <p:cSld name="TITLE_AND_TWO_COLUMNS_4_1_1_1_1_1_1_1_1_1_1_1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type="title"/>
          </p:nvPr>
        </p:nvSpPr>
        <p:spPr>
          <a:xfrm>
            <a:off x="220700" y="165475"/>
            <a:ext cx="86889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2 Columns">
  <p:cSld name="TITLE_AND_TWO_COLUMNS_4_1_1_1_1_1_1_1_1_1_1_1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/>
          <p:nvPr>
            <p:ph idx="1" type="subTitle"/>
          </p:nvPr>
        </p:nvSpPr>
        <p:spPr>
          <a:xfrm>
            <a:off x="226400" y="1749684"/>
            <a:ext cx="3531300" cy="27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2" name="Google Shape;102;p27"/>
          <p:cNvSpPr/>
          <p:nvPr/>
        </p:nvSpPr>
        <p:spPr>
          <a:xfrm>
            <a:off x="4569525" y="0"/>
            <a:ext cx="4574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7"/>
          <p:cNvSpPr txBox="1"/>
          <p:nvPr>
            <p:ph idx="2" type="subTitle"/>
          </p:nvPr>
        </p:nvSpPr>
        <p:spPr>
          <a:xfrm>
            <a:off x="4779150" y="1749685"/>
            <a:ext cx="3531300" cy="27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4" name="Google Shape;104;p27"/>
          <p:cNvSpPr txBox="1"/>
          <p:nvPr>
            <p:ph type="title"/>
          </p:nvPr>
        </p:nvSpPr>
        <p:spPr>
          <a:xfrm>
            <a:off x="220700" y="165475"/>
            <a:ext cx="86889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5" name="Google Shape;10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3 Columns">
  <p:cSld name="TITLE_AND_TWO_COLUMNS_4_1_1_1_1_1_1_1_1_1_1_1_1_1"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8"/>
          <p:cNvSpPr/>
          <p:nvPr/>
        </p:nvSpPr>
        <p:spPr>
          <a:xfrm>
            <a:off x="6097275" y="0"/>
            <a:ext cx="3048000" cy="5143500"/>
          </a:xfrm>
          <a:prstGeom prst="rect">
            <a:avLst/>
          </a:prstGeom>
          <a:solidFill>
            <a:srgbClr val="CC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8"/>
          <p:cNvSpPr txBox="1"/>
          <p:nvPr>
            <p:ph idx="1" type="subTitle"/>
          </p:nvPr>
        </p:nvSpPr>
        <p:spPr>
          <a:xfrm>
            <a:off x="235200" y="1755938"/>
            <a:ext cx="2484000" cy="27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0" name="Google Shape;110;p28"/>
          <p:cNvSpPr txBox="1"/>
          <p:nvPr>
            <p:ph idx="2" type="subTitle"/>
          </p:nvPr>
        </p:nvSpPr>
        <p:spPr>
          <a:xfrm>
            <a:off x="3282675" y="1755938"/>
            <a:ext cx="2484000" cy="27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1" name="Google Shape;111;p28"/>
          <p:cNvSpPr txBox="1"/>
          <p:nvPr>
            <p:ph idx="3" type="subTitle"/>
          </p:nvPr>
        </p:nvSpPr>
        <p:spPr>
          <a:xfrm>
            <a:off x="6337875" y="1755938"/>
            <a:ext cx="2484000" cy="27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Helvetica Neue"/>
              <a:buNone/>
              <a:defRPr b="1" sz="16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2" name="Google Shape;112;p28"/>
          <p:cNvSpPr txBox="1"/>
          <p:nvPr>
            <p:ph idx="12" type="sldNum"/>
          </p:nvPr>
        </p:nvSpPr>
        <p:spPr>
          <a:xfrm>
            <a:off x="8158030" y="4919093"/>
            <a:ext cx="7518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8"/>
          <p:cNvSpPr txBox="1"/>
          <p:nvPr>
            <p:ph type="title"/>
          </p:nvPr>
        </p:nvSpPr>
        <p:spPr>
          <a:xfrm>
            <a:off x="220700" y="165475"/>
            <a:ext cx="86889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4 Columns">
  <p:cSld name="TITLE_AND_TWO_COLUMNS_4_1_1_1_1_1_1_1_1_1_1_1_1_1_1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/>
          <p:nvPr/>
        </p:nvSpPr>
        <p:spPr>
          <a:xfrm>
            <a:off x="2295725" y="-125"/>
            <a:ext cx="2295600" cy="5143500"/>
          </a:xfrm>
          <a:prstGeom prst="rect">
            <a:avLst/>
          </a:prstGeom>
          <a:solidFill>
            <a:srgbClr val="CDF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9"/>
          <p:cNvSpPr/>
          <p:nvPr/>
        </p:nvSpPr>
        <p:spPr>
          <a:xfrm>
            <a:off x="4574050" y="-125"/>
            <a:ext cx="2295600" cy="5143500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9"/>
          <p:cNvSpPr/>
          <p:nvPr/>
        </p:nvSpPr>
        <p:spPr>
          <a:xfrm>
            <a:off x="6869775" y="-125"/>
            <a:ext cx="2274300" cy="5143500"/>
          </a:xfrm>
          <a:prstGeom prst="rect">
            <a:avLst/>
          </a:prstGeom>
          <a:solidFill>
            <a:srgbClr val="14A9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9"/>
          <p:cNvSpPr txBox="1"/>
          <p:nvPr>
            <p:ph idx="1" type="subTitle"/>
          </p:nvPr>
        </p:nvSpPr>
        <p:spPr>
          <a:xfrm>
            <a:off x="274650" y="1275100"/>
            <a:ext cx="1797600" cy="31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9" name="Google Shape;119;p29"/>
          <p:cNvSpPr txBox="1"/>
          <p:nvPr>
            <p:ph idx="2" type="subTitle"/>
          </p:nvPr>
        </p:nvSpPr>
        <p:spPr>
          <a:xfrm>
            <a:off x="2530750" y="1275100"/>
            <a:ext cx="1797600" cy="31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0" name="Google Shape;120;p29"/>
          <p:cNvSpPr txBox="1"/>
          <p:nvPr>
            <p:ph idx="3" type="subTitle"/>
          </p:nvPr>
        </p:nvSpPr>
        <p:spPr>
          <a:xfrm>
            <a:off x="4837900" y="1275100"/>
            <a:ext cx="1797600" cy="31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1" name="Google Shape;121;p29"/>
          <p:cNvSpPr txBox="1"/>
          <p:nvPr>
            <p:ph idx="4" type="subTitle"/>
          </p:nvPr>
        </p:nvSpPr>
        <p:spPr>
          <a:xfrm>
            <a:off x="7132175" y="1275100"/>
            <a:ext cx="1797600" cy="31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Helvetica Neue"/>
              <a:buNone/>
              <a:defRPr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8158030" y="4919093"/>
            <a:ext cx="7518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9"/>
          <p:cNvSpPr txBox="1"/>
          <p:nvPr>
            <p:ph type="title"/>
          </p:nvPr>
        </p:nvSpPr>
        <p:spPr>
          <a:xfrm>
            <a:off x="220700" y="165475"/>
            <a:ext cx="86889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 Main point">
  <p:cSld name="TITLE_AND_TWO_COLUMNS_4_1_1_1_1_1_1_1_1_1_1_1_1_1_1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236625" y="1384715"/>
            <a:ext cx="5745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6" name="Google Shape;126;p30"/>
          <p:cNvSpPr txBox="1"/>
          <p:nvPr>
            <p:ph idx="1" type="subTitle"/>
          </p:nvPr>
        </p:nvSpPr>
        <p:spPr>
          <a:xfrm>
            <a:off x="236625" y="1933030"/>
            <a:ext cx="5745300" cy="23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None/>
              <a:defRPr b="0"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27" name="Google Shape;127;p30"/>
          <p:cNvSpPr txBox="1"/>
          <p:nvPr>
            <p:ph idx="12" type="sldNum"/>
          </p:nvPr>
        </p:nvSpPr>
        <p:spPr>
          <a:xfrm>
            <a:off x="8158030" y="4919093"/>
            <a:ext cx="7518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Half page with photo">
  <p:cSld name="TITLE_AND_TWO_COLUMNS_4_1_1_1_1_1_1_1_1_1_1_1_1_1_1_1_1"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1"/>
          <p:cNvSpPr txBox="1"/>
          <p:nvPr>
            <p:ph idx="1" type="subTitle"/>
          </p:nvPr>
        </p:nvSpPr>
        <p:spPr>
          <a:xfrm>
            <a:off x="220700" y="1491774"/>
            <a:ext cx="3686100" cy="301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0" name="Google Shape;130;p31"/>
          <p:cNvSpPr txBox="1"/>
          <p:nvPr>
            <p:ph type="title"/>
          </p:nvPr>
        </p:nvSpPr>
        <p:spPr>
          <a:xfrm>
            <a:off x="220700" y="165475"/>
            <a:ext cx="36861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31"/>
          <p:cNvSpPr/>
          <p:nvPr>
            <p:ph idx="2" type="pic"/>
          </p:nvPr>
        </p:nvSpPr>
        <p:spPr>
          <a:xfrm>
            <a:off x="4567850" y="0"/>
            <a:ext cx="4576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Half page with full phone">
  <p:cSld name="TITLE_AND_TWO_COLUMNS_4_1_1_1_1_1_1_1_1_1_1_1_1_1_1_1_1_3"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/>
          <p:nvPr/>
        </p:nvSpPr>
        <p:spPr>
          <a:xfrm>
            <a:off x="4569525" y="0"/>
            <a:ext cx="4574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2"/>
          <p:cNvSpPr/>
          <p:nvPr>
            <p:ph idx="2" type="pic"/>
          </p:nvPr>
        </p:nvSpPr>
        <p:spPr>
          <a:xfrm>
            <a:off x="5949880" y="423675"/>
            <a:ext cx="1886400" cy="407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2"/>
          <p:cNvSpPr txBox="1"/>
          <p:nvPr>
            <p:ph idx="1" type="subTitle"/>
          </p:nvPr>
        </p:nvSpPr>
        <p:spPr>
          <a:xfrm>
            <a:off x="220700" y="1491774"/>
            <a:ext cx="3686100" cy="301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8158030" y="4919093"/>
            <a:ext cx="7518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32"/>
          <p:cNvSpPr txBox="1"/>
          <p:nvPr>
            <p:ph type="title"/>
          </p:nvPr>
        </p:nvSpPr>
        <p:spPr>
          <a:xfrm>
            <a:off x="220700" y="165475"/>
            <a:ext cx="36861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Half page with half phone">
  <p:cSld name="TITLE_AND_TWO_COLUMNS_4_1_1_1_1_1_1_1_1_1_1_1_1_1_1_1_1_2"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/>
          <p:nvPr/>
        </p:nvSpPr>
        <p:spPr>
          <a:xfrm>
            <a:off x="4569525" y="0"/>
            <a:ext cx="4574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3"/>
          <p:cNvSpPr/>
          <p:nvPr>
            <p:ph idx="2" type="pic"/>
          </p:nvPr>
        </p:nvSpPr>
        <p:spPr>
          <a:xfrm>
            <a:off x="5383900" y="1407475"/>
            <a:ext cx="2960100" cy="37359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33"/>
          <p:cNvSpPr txBox="1"/>
          <p:nvPr>
            <p:ph idx="12" type="sldNum"/>
          </p:nvPr>
        </p:nvSpPr>
        <p:spPr>
          <a:xfrm>
            <a:off x="8158030" y="4919093"/>
            <a:ext cx="7518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33"/>
          <p:cNvSpPr txBox="1"/>
          <p:nvPr>
            <p:ph type="title"/>
          </p:nvPr>
        </p:nvSpPr>
        <p:spPr>
          <a:xfrm>
            <a:off x="220700" y="165475"/>
            <a:ext cx="36861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33"/>
          <p:cNvSpPr txBox="1"/>
          <p:nvPr>
            <p:ph idx="1" type="subTitle"/>
          </p:nvPr>
        </p:nvSpPr>
        <p:spPr>
          <a:xfrm>
            <a:off x="220700" y="1491774"/>
            <a:ext cx="3686100" cy="301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. Team">
  <p:cSld name="TITLE_AND_TWO_COLUMNS_4_1_1_1_1_1_1_1_1_1_1_1_1_1_1_1_1_1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/>
          <p:nvPr>
            <p:ph idx="2" type="pic"/>
          </p:nvPr>
        </p:nvSpPr>
        <p:spPr>
          <a:xfrm>
            <a:off x="235650" y="125770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47" name="Google Shape;147;p34"/>
          <p:cNvSpPr txBox="1"/>
          <p:nvPr>
            <p:ph idx="1" type="subTitle"/>
          </p:nvPr>
        </p:nvSpPr>
        <p:spPr>
          <a:xfrm>
            <a:off x="239800" y="232720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158030" y="4919093"/>
            <a:ext cx="7518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34"/>
          <p:cNvSpPr/>
          <p:nvPr>
            <p:ph idx="3" type="pic"/>
          </p:nvPr>
        </p:nvSpPr>
        <p:spPr>
          <a:xfrm>
            <a:off x="7562725" y="125770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50" name="Google Shape;150;p34"/>
          <p:cNvSpPr txBox="1"/>
          <p:nvPr>
            <p:ph idx="4" type="subTitle"/>
          </p:nvPr>
        </p:nvSpPr>
        <p:spPr>
          <a:xfrm>
            <a:off x="7557150" y="232720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34"/>
          <p:cNvSpPr/>
          <p:nvPr>
            <p:ph idx="5" type="pic"/>
          </p:nvPr>
        </p:nvSpPr>
        <p:spPr>
          <a:xfrm>
            <a:off x="3899237" y="125770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52" name="Google Shape;152;p34"/>
          <p:cNvSpPr txBox="1"/>
          <p:nvPr>
            <p:ph idx="6" type="subTitle"/>
          </p:nvPr>
        </p:nvSpPr>
        <p:spPr>
          <a:xfrm>
            <a:off x="3893663" y="232720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34"/>
          <p:cNvSpPr/>
          <p:nvPr>
            <p:ph idx="7" type="pic"/>
          </p:nvPr>
        </p:nvSpPr>
        <p:spPr>
          <a:xfrm>
            <a:off x="5728963" y="125770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54" name="Google Shape;154;p34"/>
          <p:cNvSpPr txBox="1"/>
          <p:nvPr>
            <p:ph idx="8" type="subTitle"/>
          </p:nvPr>
        </p:nvSpPr>
        <p:spPr>
          <a:xfrm>
            <a:off x="5723388" y="232720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5" name="Google Shape;155;p34"/>
          <p:cNvSpPr/>
          <p:nvPr>
            <p:ph idx="9" type="pic"/>
          </p:nvPr>
        </p:nvSpPr>
        <p:spPr>
          <a:xfrm>
            <a:off x="2055563" y="125770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56" name="Google Shape;156;p34"/>
          <p:cNvSpPr txBox="1"/>
          <p:nvPr>
            <p:ph idx="13" type="subTitle"/>
          </p:nvPr>
        </p:nvSpPr>
        <p:spPr>
          <a:xfrm>
            <a:off x="2049988" y="232720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7" name="Google Shape;157;p34"/>
          <p:cNvSpPr/>
          <p:nvPr>
            <p:ph idx="14" type="pic"/>
          </p:nvPr>
        </p:nvSpPr>
        <p:spPr>
          <a:xfrm>
            <a:off x="230150" y="293975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58" name="Google Shape;158;p34"/>
          <p:cNvSpPr txBox="1"/>
          <p:nvPr>
            <p:ph idx="15" type="subTitle"/>
          </p:nvPr>
        </p:nvSpPr>
        <p:spPr>
          <a:xfrm>
            <a:off x="234300" y="400925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9" name="Google Shape;159;p34"/>
          <p:cNvSpPr/>
          <p:nvPr>
            <p:ph idx="16" type="pic"/>
          </p:nvPr>
        </p:nvSpPr>
        <p:spPr>
          <a:xfrm>
            <a:off x="7557225" y="293975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60" name="Google Shape;160;p34"/>
          <p:cNvSpPr txBox="1"/>
          <p:nvPr>
            <p:ph idx="17" type="subTitle"/>
          </p:nvPr>
        </p:nvSpPr>
        <p:spPr>
          <a:xfrm>
            <a:off x="7551650" y="400925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1" name="Google Shape;161;p34"/>
          <p:cNvSpPr/>
          <p:nvPr>
            <p:ph idx="18" type="pic"/>
          </p:nvPr>
        </p:nvSpPr>
        <p:spPr>
          <a:xfrm>
            <a:off x="3893737" y="293975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62" name="Google Shape;162;p34"/>
          <p:cNvSpPr txBox="1"/>
          <p:nvPr>
            <p:ph idx="19" type="subTitle"/>
          </p:nvPr>
        </p:nvSpPr>
        <p:spPr>
          <a:xfrm>
            <a:off x="3888163" y="400925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3" name="Google Shape;163;p34"/>
          <p:cNvSpPr/>
          <p:nvPr>
            <p:ph idx="20" type="pic"/>
          </p:nvPr>
        </p:nvSpPr>
        <p:spPr>
          <a:xfrm>
            <a:off x="5723463" y="293975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64" name="Google Shape;164;p34"/>
          <p:cNvSpPr txBox="1"/>
          <p:nvPr>
            <p:ph idx="21" type="subTitle"/>
          </p:nvPr>
        </p:nvSpPr>
        <p:spPr>
          <a:xfrm>
            <a:off x="5717888" y="400925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5" name="Google Shape;165;p34"/>
          <p:cNvSpPr/>
          <p:nvPr>
            <p:ph idx="22" type="pic"/>
          </p:nvPr>
        </p:nvSpPr>
        <p:spPr>
          <a:xfrm>
            <a:off x="2050063" y="2939750"/>
            <a:ext cx="1356600" cy="972600"/>
          </a:xfrm>
          <a:prstGeom prst="roundRect">
            <a:avLst>
              <a:gd fmla="val 9198" name="adj"/>
            </a:avLst>
          </a:prstGeom>
          <a:noFill/>
          <a:ln>
            <a:noFill/>
          </a:ln>
        </p:spPr>
      </p:sp>
      <p:sp>
        <p:nvSpPr>
          <p:cNvPr id="166" name="Google Shape;166;p34"/>
          <p:cNvSpPr txBox="1"/>
          <p:nvPr>
            <p:ph idx="23" type="subTitle"/>
          </p:nvPr>
        </p:nvSpPr>
        <p:spPr>
          <a:xfrm>
            <a:off x="2044488" y="4009250"/>
            <a:ext cx="13383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7" name="Google Shape;167;p34"/>
          <p:cNvSpPr txBox="1"/>
          <p:nvPr>
            <p:ph type="title"/>
          </p:nvPr>
        </p:nvSpPr>
        <p:spPr>
          <a:xfrm>
            <a:off x="220700" y="165475"/>
            <a:ext cx="86889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. Annoucement">
  <p:cSld name="TITLE_AND_TWO_COLUMNS_4_1_1_1_1_1_1_1_1_1_1_1_1_1_1_1_1_1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>
            <p:ph idx="1" type="subTitle"/>
          </p:nvPr>
        </p:nvSpPr>
        <p:spPr>
          <a:xfrm>
            <a:off x="3174625" y="192525"/>
            <a:ext cx="5735100" cy="46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Georgia"/>
              <a:buNone/>
              <a:defRPr b="0" sz="1500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70" name="Google Shape;170;p35"/>
          <p:cNvSpPr txBox="1"/>
          <p:nvPr>
            <p:ph idx="12" type="sldNum"/>
          </p:nvPr>
        </p:nvSpPr>
        <p:spPr>
          <a:xfrm>
            <a:off x="8158030" y="4919093"/>
            <a:ext cx="7518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35"/>
          <p:cNvSpPr txBox="1"/>
          <p:nvPr>
            <p:ph type="title"/>
          </p:nvPr>
        </p:nvSpPr>
        <p:spPr>
          <a:xfrm>
            <a:off x="220700" y="165475"/>
            <a:ext cx="2106000" cy="4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. Annoucement with image">
  <p:cSld name="TITLE_AND_TWO_COLUMNS_4_1_1_1_1_1_1_1_1_1_1_1_1_1_1_1_1_1_1_1"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/>
          <p:nvPr>
            <p:ph idx="2" type="pic"/>
          </p:nvPr>
        </p:nvSpPr>
        <p:spPr>
          <a:xfrm>
            <a:off x="3168450" y="1531575"/>
            <a:ext cx="2807100" cy="2606700"/>
          </a:xfrm>
          <a:prstGeom prst="roundRect">
            <a:avLst>
              <a:gd fmla="val 4533" name="adj"/>
            </a:avLst>
          </a:prstGeom>
          <a:noFill/>
          <a:ln>
            <a:noFill/>
          </a:ln>
        </p:spPr>
      </p:sp>
      <p:sp>
        <p:nvSpPr>
          <p:cNvPr id="174" name="Google Shape;174;p36"/>
          <p:cNvSpPr txBox="1"/>
          <p:nvPr>
            <p:ph idx="1" type="subTitle"/>
          </p:nvPr>
        </p:nvSpPr>
        <p:spPr>
          <a:xfrm>
            <a:off x="3174625" y="192525"/>
            <a:ext cx="5735100" cy="6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Georgia"/>
              <a:buNone/>
              <a:defRPr b="0" sz="1500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Georgia"/>
              <a:buNone/>
              <a:defRPr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75" name="Google Shape;175;p36"/>
          <p:cNvSpPr txBox="1"/>
          <p:nvPr>
            <p:ph idx="12" type="sldNum"/>
          </p:nvPr>
        </p:nvSpPr>
        <p:spPr>
          <a:xfrm>
            <a:off x="8158030" y="4919093"/>
            <a:ext cx="7518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36"/>
          <p:cNvSpPr txBox="1"/>
          <p:nvPr>
            <p:ph type="title"/>
          </p:nvPr>
        </p:nvSpPr>
        <p:spPr>
          <a:xfrm>
            <a:off x="220700" y="165475"/>
            <a:ext cx="2106000" cy="4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Quote">
  <p:cSld name="TITLE_AND_TWO_COLUMNS_4_1_1_1_1_1_1_1_1_1_1_1_1_1_1_1_1_1_1_1_1"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7"/>
          <p:cNvSpPr txBox="1"/>
          <p:nvPr>
            <p:ph idx="1" type="subTitle"/>
          </p:nvPr>
        </p:nvSpPr>
        <p:spPr>
          <a:xfrm>
            <a:off x="227672" y="911279"/>
            <a:ext cx="4638600" cy="26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eorgia"/>
              <a:buNone/>
              <a:defRPr b="0" sz="3200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79" name="Google Shape;179;p37"/>
          <p:cNvSpPr/>
          <p:nvPr>
            <p:ph idx="2" type="pic"/>
          </p:nvPr>
        </p:nvSpPr>
        <p:spPr>
          <a:xfrm>
            <a:off x="5372360" y="725588"/>
            <a:ext cx="3013200" cy="2797800"/>
          </a:xfrm>
          <a:prstGeom prst="roundRect">
            <a:avLst>
              <a:gd fmla="val 4533" name="adj"/>
            </a:avLst>
          </a:prstGeom>
          <a:noFill/>
          <a:ln>
            <a:noFill/>
          </a:ln>
        </p:spPr>
      </p:sp>
      <p:sp>
        <p:nvSpPr>
          <p:cNvPr id="180" name="Google Shape;180;p37"/>
          <p:cNvSpPr txBox="1"/>
          <p:nvPr>
            <p:ph idx="3" type="subTitle"/>
          </p:nvPr>
        </p:nvSpPr>
        <p:spPr>
          <a:xfrm>
            <a:off x="5365475" y="3755125"/>
            <a:ext cx="30132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37"/>
          <p:cNvSpPr txBox="1"/>
          <p:nvPr>
            <p:ph idx="12" type="sldNum"/>
          </p:nvPr>
        </p:nvSpPr>
        <p:spPr>
          <a:xfrm>
            <a:off x="8158030" y="4919093"/>
            <a:ext cx="7518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b="1" sz="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" type="secHead">
  <p:cSld name="SECTION_HEADER"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8"/>
          <p:cNvSpPr txBox="1"/>
          <p:nvPr>
            <p:ph type="title"/>
          </p:nvPr>
        </p:nvSpPr>
        <p:spPr>
          <a:xfrm>
            <a:off x="452550" y="1218401"/>
            <a:ext cx="8238900" cy="3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pic>
        <p:nvPicPr>
          <p:cNvPr id="184" name="Google Shape;184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548" y="4869865"/>
            <a:ext cx="433675" cy="1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1">
  <p:cSld name="TITLE_AND_TWO_COLUMNS_4_2"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/>
          <p:nvPr>
            <p:ph type="title"/>
          </p:nvPr>
        </p:nvSpPr>
        <p:spPr>
          <a:xfrm>
            <a:off x="452550" y="1393025"/>
            <a:ext cx="82389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88" name="Google Shape;188;p39"/>
          <p:cNvSpPr txBox="1"/>
          <p:nvPr>
            <p:ph idx="2" type="title"/>
          </p:nvPr>
        </p:nvSpPr>
        <p:spPr>
          <a:xfrm>
            <a:off x="452550" y="228600"/>
            <a:ext cx="8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9" name="Google Shape;18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557" y="4870896"/>
            <a:ext cx="462101" cy="1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3" name="Google Shape;193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4" name="Google Shape;19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40"/>
          <p:cNvSpPr/>
          <p:nvPr/>
        </p:nvSpPr>
        <p:spPr>
          <a:xfrm>
            <a:off x="8216350" y="113125"/>
            <a:ext cx="963900" cy="1929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000000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C&amp;AE</a:t>
            </a:r>
            <a:endParaRPr b="0" i="1" sz="800" u="none" cap="none" strike="noStrike">
              <a:solidFill>
                <a:srgbClr val="000000"/>
              </a:solidFill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sp>
        <p:nvSpPr>
          <p:cNvPr id="196" name="Google Shape;196;p40">
            <a:hlinkClick r:id="rId2"/>
          </p:cNvPr>
          <p:cNvSpPr/>
          <p:nvPr/>
        </p:nvSpPr>
        <p:spPr>
          <a:xfrm rot="-5400000">
            <a:off x="8425250" y="-108425"/>
            <a:ext cx="823800" cy="318300"/>
          </a:xfrm>
          <a:prstGeom prst="chevron">
            <a:avLst>
              <a:gd fmla="val 32162" name="adj"/>
            </a:avLst>
          </a:prstGeom>
          <a:solidFill>
            <a:srgbClr val="2DE3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922" l="21878" r="21618" t="0"/>
          <a:stretch/>
        </p:blipFill>
        <p:spPr>
          <a:xfrm>
            <a:off x="8729600" y="116337"/>
            <a:ext cx="215100" cy="215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">
  <p:cSld name="TITLE_AND_TWO_COLUMNS_1"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 txBox="1"/>
          <p:nvPr/>
        </p:nvSpPr>
        <p:spPr>
          <a:xfrm>
            <a:off x="5449700" y="4869938"/>
            <a:ext cx="34704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 Sans Black"/>
                <a:ea typeface="Nunito Sans Black"/>
                <a:cs typeface="Nunito Sans Black"/>
                <a:sym typeface="Nunito Sans Black"/>
              </a:rPr>
              <a:t> </a:t>
            </a:r>
            <a:r>
              <a:rPr lang="en" sz="800">
                <a:solidFill>
                  <a:srgbClr val="000000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#strategy-and-okrs	   </a:t>
            </a:r>
            <a:r>
              <a:rPr lang="en" sz="800">
                <a:latin typeface="Nunito Sans Black"/>
                <a:ea typeface="Nunito Sans Black"/>
                <a:cs typeface="Nunito Sans Black"/>
                <a:sym typeface="Nunito Sans Black"/>
              </a:rPr>
              <a:t>CONFIDENTIAL</a:t>
            </a:r>
            <a:r>
              <a:rPr lang="en" sz="800">
                <a:latin typeface="Nunito Sans"/>
                <a:ea typeface="Nunito Sans"/>
                <a:cs typeface="Nunito Sans"/>
                <a:sym typeface="Nunito Sans"/>
              </a:rPr>
              <a:t>  </a:t>
            </a:r>
            <a:fld id="{00000000-1234-1234-1234-123412341234}" type="slidenum">
              <a:rPr lang="en" sz="800"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800"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548" y="4869865"/>
            <a:ext cx="433675" cy="1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2">
  <p:cSld name="TITLE_ONLY_1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2">
  <p:cSld name="TITLE_AND_TWO_COLUMNS_2"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/>
          <p:nvPr>
            <p:ph type="title"/>
          </p:nvPr>
        </p:nvSpPr>
        <p:spPr>
          <a:xfrm>
            <a:off x="452550" y="1393025"/>
            <a:ext cx="82389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6" name="Google Shape;206;p43"/>
          <p:cNvSpPr txBox="1"/>
          <p:nvPr>
            <p:ph idx="2" type="title"/>
          </p:nvPr>
        </p:nvSpPr>
        <p:spPr>
          <a:xfrm>
            <a:off x="452550" y="228600"/>
            <a:ext cx="8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07" name="Google Shape;207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557" y="4870896"/>
            <a:ext cx="462101" cy="1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header 1">
  <p:cSld name="TITLE_AND_TWO_COLUMNS_2_1"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452550" y="228600"/>
            <a:ext cx="8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3">
  <p:cSld name="TITLE_AND_TWO_COLUMNS_3">
    <p:bg>
      <p:bgPr>
        <a:solidFill>
          <a:srgbClr val="CDF3D3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type="title"/>
          </p:nvPr>
        </p:nvSpPr>
        <p:spPr>
          <a:xfrm>
            <a:off x="452550" y="1393025"/>
            <a:ext cx="82389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14" name="Google Shape;214;p45"/>
          <p:cNvSpPr txBox="1"/>
          <p:nvPr>
            <p:ph idx="2" type="title"/>
          </p:nvPr>
        </p:nvSpPr>
        <p:spPr>
          <a:xfrm>
            <a:off x="452550" y="228600"/>
            <a:ext cx="8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15" name="Google Shape;215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557" y="4870896"/>
            <a:ext cx="462101" cy="1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663950" y="868675"/>
            <a:ext cx="21468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Char char="➔"/>
              <a:defRPr b="1" sz="12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Char char="◆"/>
              <a:defRPr sz="12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Char char="●"/>
              <a:defRPr sz="12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Char char="○"/>
              <a:defRPr sz="12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Char char="◆"/>
              <a:defRPr sz="12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Char char="●"/>
              <a:defRPr sz="12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Char char="○"/>
              <a:defRPr sz="12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◆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8">
          <p15:clr>
            <a:srgbClr val="E46962"/>
          </p15:clr>
        </p15:guide>
        <p15:guide id="2" pos="544">
          <p15:clr>
            <a:srgbClr val="E46962"/>
          </p15:clr>
        </p15:guide>
        <p15:guide id="3" pos="618">
          <p15:clr>
            <a:srgbClr val="E46962"/>
          </p15:clr>
        </p15:guide>
        <p15:guide id="4" pos="1003">
          <p15:clr>
            <a:srgbClr val="E46962"/>
          </p15:clr>
        </p15:guide>
        <p15:guide id="5" pos="1077">
          <p15:clr>
            <a:srgbClr val="E46962"/>
          </p15:clr>
        </p15:guide>
        <p15:guide id="6" pos="1466">
          <p15:clr>
            <a:srgbClr val="E46962"/>
          </p15:clr>
        </p15:guide>
        <p15:guide id="7" pos="1536">
          <p15:clr>
            <a:srgbClr val="E46962"/>
          </p15:clr>
        </p15:guide>
        <p15:guide id="8" pos="1925">
          <p15:clr>
            <a:srgbClr val="E46962"/>
          </p15:clr>
        </p15:guide>
        <p15:guide id="9" pos="2000">
          <p15:clr>
            <a:srgbClr val="E46962"/>
          </p15:clr>
        </p15:guide>
        <p15:guide id="10" pos="2384">
          <p15:clr>
            <a:srgbClr val="E46962"/>
          </p15:clr>
        </p15:guide>
        <p15:guide id="11" pos="2461">
          <p15:clr>
            <a:srgbClr val="E46962"/>
          </p15:clr>
        </p15:guide>
        <p15:guide id="12" pos="2845">
          <p15:clr>
            <a:srgbClr val="E46962"/>
          </p15:clr>
        </p15:guide>
        <p15:guide id="13" pos="2922">
          <p15:clr>
            <a:srgbClr val="E46962"/>
          </p15:clr>
        </p15:guide>
        <p15:guide id="14" pos="3307">
          <p15:clr>
            <a:srgbClr val="E46962"/>
          </p15:clr>
        </p15:guide>
        <p15:guide id="15" pos="3382">
          <p15:clr>
            <a:srgbClr val="E46962"/>
          </p15:clr>
        </p15:guide>
        <p15:guide id="16" pos="3768">
          <p15:clr>
            <a:srgbClr val="E46962"/>
          </p15:clr>
        </p15:guide>
        <p15:guide id="17" pos="3841">
          <p15:clr>
            <a:srgbClr val="E46962"/>
          </p15:clr>
        </p15:guide>
        <p15:guide id="18" pos="4230">
          <p15:clr>
            <a:srgbClr val="E46962"/>
          </p15:clr>
        </p15:guide>
        <p15:guide id="19" pos="4304">
          <p15:clr>
            <a:srgbClr val="E46962"/>
          </p15:clr>
        </p15:guide>
        <p15:guide id="20" pos="4689">
          <p15:clr>
            <a:srgbClr val="E46962"/>
          </p15:clr>
        </p15:guide>
        <p15:guide id="21" pos="4764">
          <p15:clr>
            <a:srgbClr val="E46962"/>
          </p15:clr>
        </p15:guide>
        <p15:guide id="22" pos="5152">
          <p15:clr>
            <a:srgbClr val="E46962"/>
          </p15:clr>
        </p15:guide>
        <p15:guide id="23" pos="5221">
          <p15:clr>
            <a:srgbClr val="E46962"/>
          </p15:clr>
        </p15:guide>
        <p15:guide id="24" pos="5612">
          <p15:clr>
            <a:srgbClr val="E46962"/>
          </p15:clr>
        </p15:guide>
        <p15:guide id="25" orient="horz" pos="150">
          <p15:clr>
            <a:srgbClr val="E46962"/>
          </p15:clr>
        </p15:guide>
        <p15:guide id="26" orient="horz" pos="633">
          <p15:clr>
            <a:srgbClr val="E46962"/>
          </p15:clr>
        </p15:guide>
        <p15:guide id="27" orient="horz" pos="1061">
          <p15:clr>
            <a:srgbClr val="E46962"/>
          </p15:clr>
        </p15:guide>
        <p15:guide id="28" orient="horz" pos="1135">
          <p15:clr>
            <a:srgbClr val="E46962"/>
          </p15:clr>
        </p15:guide>
        <p15:guide id="29" orient="horz" pos="1552">
          <p15:clr>
            <a:srgbClr val="E46962"/>
          </p15:clr>
        </p15:guide>
        <p15:guide id="30" orient="horz" pos="1623">
          <p15:clr>
            <a:srgbClr val="E46962"/>
          </p15:clr>
        </p15:guide>
        <p15:guide id="31" orient="horz" pos="2040">
          <p15:clr>
            <a:srgbClr val="E46962"/>
          </p15:clr>
        </p15:guide>
        <p15:guide id="32" pos="75">
          <p15:clr>
            <a:srgbClr val="E46962"/>
          </p15:clr>
        </p15:guide>
        <p15:guide id="33" pos="5687">
          <p15:clr>
            <a:srgbClr val="E46962"/>
          </p15:clr>
        </p15:guide>
        <p15:guide id="34" orient="horz" pos="2112">
          <p15:clr>
            <a:srgbClr val="E46962"/>
          </p15:clr>
        </p15:guide>
        <p15:guide id="35" orient="horz" pos="2529">
          <p15:clr>
            <a:srgbClr val="E46962"/>
          </p15:clr>
        </p15:guide>
        <p15:guide id="36" orient="horz" pos="2607">
          <p15:clr>
            <a:srgbClr val="E46962"/>
          </p15:clr>
        </p15:guide>
        <p15:guide id="37" orient="horz" pos="3026">
          <p15:clr>
            <a:srgbClr val="E46962"/>
          </p15:clr>
        </p15:guide>
        <p15:guide id="38" orient="horz" pos="3136">
          <p15:clr>
            <a:srgbClr val="E46962"/>
          </p15:clr>
        </p15:guide>
        <p15:guide id="39" orient="horz" pos="72">
          <p15:clr>
            <a:srgbClr val="E46962"/>
          </p15:clr>
        </p15:guide>
        <p15:guide id="40" orient="horz" pos="56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029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00" y="4812802"/>
            <a:ext cx="569175" cy="16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6"/>
          <p:cNvSpPr txBox="1"/>
          <p:nvPr>
            <p:ph type="title"/>
          </p:nvPr>
        </p:nvSpPr>
        <p:spPr>
          <a:xfrm>
            <a:off x="238275" y="1618200"/>
            <a:ext cx="8424000" cy="190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600">
                <a:latin typeface="Inter Tight"/>
                <a:ea typeface="Inter Tight"/>
                <a:cs typeface="Inter Tight"/>
                <a:sym typeface="Inter Tight"/>
              </a:rPr>
              <a:t>Incrementality Measurement: Creators</a:t>
            </a:r>
            <a:endParaRPr sz="46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April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 , 2026</a:t>
            </a:r>
            <a:endParaRPr sz="5200"/>
          </a:p>
        </p:txBody>
      </p:sp>
      <p:sp>
        <p:nvSpPr>
          <p:cNvPr id="223" name="Google Shape;223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7"/>
          <p:cNvSpPr txBox="1"/>
          <p:nvPr>
            <p:ph type="title"/>
          </p:nvPr>
        </p:nvSpPr>
        <p:spPr>
          <a:xfrm>
            <a:off x="316469" y="207583"/>
            <a:ext cx="85740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Evaluating the Impact of Increased Creator Spend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9" name="Google Shape;229;p47"/>
          <p:cNvSpPr txBox="1"/>
          <p:nvPr/>
        </p:nvSpPr>
        <p:spPr>
          <a:xfrm>
            <a:off x="310545" y="885706"/>
            <a:ext cx="877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Creator Spend Increased Significantly in Early 2026</a:t>
            </a:r>
            <a:endParaRPr b="1"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0" name="Google Shape;2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125" y="1428793"/>
            <a:ext cx="4827524" cy="23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7"/>
          <p:cNvSpPr txBox="1"/>
          <p:nvPr/>
        </p:nvSpPr>
        <p:spPr>
          <a:xfrm>
            <a:off x="325213" y="1364475"/>
            <a:ext cx="3687600" cy="23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Context:</a:t>
            </a:r>
            <a:endParaRPr b="1" sz="15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685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Helvetica Neue"/>
              <a:buChar char="-"/>
            </a:pPr>
            <a:r>
              <a:rPr b="1" lang="en" sz="1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 Creator Spend (Oct - Dec 25) : </a:t>
            </a:r>
            <a:r>
              <a:rPr b="1" lang="en" sz="1300">
                <a:solidFill>
                  <a:srgbClr val="21C6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~$300k/month</a:t>
            </a:r>
            <a:endParaRPr b="1" sz="1300">
              <a:solidFill>
                <a:srgbClr val="21C6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68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Helvetica Neue"/>
              <a:buChar char="-"/>
            </a:pPr>
            <a:r>
              <a:rPr b="1" lang="en" sz="1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Ramp up Creator Spend (Jan - Mar 26) : </a:t>
            </a:r>
            <a:r>
              <a:rPr b="1" lang="en" sz="13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~$700k</a:t>
            </a:r>
            <a:r>
              <a:rPr b="1" lang="en" sz="13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/month</a:t>
            </a:r>
            <a:endParaRPr b="1" sz="13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68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Helvetica Neue"/>
              <a:buChar char="-"/>
            </a:pPr>
            <a:r>
              <a:rPr b="1" lang="en" sz="1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paid marketing spend: </a:t>
            </a:r>
            <a:r>
              <a:rPr b="1" lang="en" sz="1300">
                <a:solidFill>
                  <a:srgbClr val="21C6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~$30M/month</a:t>
            </a:r>
            <a:endParaRPr b="1" sz="1300">
              <a:solidFill>
                <a:srgbClr val="21C6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Google Shape;232;p47"/>
          <p:cNvSpPr txBox="1"/>
          <p:nvPr/>
        </p:nvSpPr>
        <p:spPr>
          <a:xfrm>
            <a:off x="1049267" y="4027641"/>
            <a:ext cx="7459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lvetica Neue"/>
              <a:buChar char="●"/>
            </a:pPr>
            <a:r>
              <a:rPr b="1" lang="en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Creators scaled from ~1% → ~2–3% of total spend</a:t>
            </a:r>
            <a:endParaRPr b="1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lvetica Neue"/>
              <a:buChar char="●"/>
            </a:pPr>
            <a:r>
              <a:rPr b="1" lang="en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this scale, creators are unlikely to drive detectable changes in </a:t>
            </a:r>
            <a:r>
              <a:rPr b="1" lang="en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</a:t>
            </a:r>
            <a:r>
              <a:rPr b="1" lang="en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metrics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8"/>
          <p:cNvSpPr txBox="1"/>
          <p:nvPr>
            <p:ph type="title"/>
          </p:nvPr>
        </p:nvSpPr>
        <p:spPr>
          <a:xfrm>
            <a:off x="356969" y="230687"/>
            <a:ext cx="87372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</a:rPr>
              <a:t>No Detectable Change in Total Enrollments After Creator Spend Increase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48"/>
          <p:cNvSpPr txBox="1"/>
          <p:nvPr/>
        </p:nvSpPr>
        <p:spPr>
          <a:xfrm>
            <a:off x="310550" y="1040770"/>
            <a:ext cx="37917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Approach</a:t>
            </a: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Built baseline using pre ramp data (2024 – 2025)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Forecasted expected enrollments without creator ramp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Compared actual vs expected after Jan 2026</a:t>
            </a:r>
            <a:endParaRPr b="1" sz="12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48"/>
          <p:cNvSpPr txBox="1"/>
          <p:nvPr/>
        </p:nvSpPr>
        <p:spPr>
          <a:xfrm>
            <a:off x="539175" y="3944785"/>
            <a:ext cx="83706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Helvetica Neue"/>
              <a:buChar char="●"/>
            </a:pPr>
            <a:r>
              <a:rPr lang="en" sz="1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Increasing creator spend from ~$300K to ~$700–800K/month did not produce a measurable lift in overall enrollments.</a:t>
            </a:r>
            <a:endParaRPr sz="13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Helvetica Neue"/>
              <a:buChar char="●"/>
            </a:pPr>
            <a:r>
              <a:rPr lang="en" sz="1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current scale (~2–3% of spend), creators are not producing a detectable impact on overall conversion metrics.</a:t>
            </a:r>
            <a:endParaRPr sz="13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48"/>
          <p:cNvSpPr txBox="1"/>
          <p:nvPr/>
        </p:nvSpPr>
        <p:spPr>
          <a:xfrm>
            <a:off x="310540" y="2495308"/>
            <a:ext cx="37917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Observation</a:t>
            </a: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Enrollments remained within expected range after Jan 2026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sustained deviation above baseline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1" name="Google Shape;24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256" y="1137601"/>
            <a:ext cx="4863202" cy="2524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type="title"/>
          </p:nvPr>
        </p:nvSpPr>
        <p:spPr>
          <a:xfrm>
            <a:off x="356969" y="230687"/>
            <a:ext cx="87372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</a:rPr>
              <a:t>No Detectable Change in </a:t>
            </a:r>
            <a:r>
              <a:rPr lang="en">
                <a:solidFill>
                  <a:schemeClr val="dk1"/>
                </a:solidFill>
              </a:rPr>
              <a:t>Brand Search Demand </a:t>
            </a:r>
            <a:r>
              <a:rPr lang="en">
                <a:solidFill>
                  <a:schemeClr val="dk1"/>
                </a:solidFill>
              </a:rPr>
              <a:t>After Creator Spend Increase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7" name="Google Shape;247;p49"/>
          <p:cNvSpPr txBox="1"/>
          <p:nvPr/>
        </p:nvSpPr>
        <p:spPr>
          <a:xfrm>
            <a:off x="310550" y="951987"/>
            <a:ext cx="37917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Brand Search?</a:t>
            </a:r>
            <a:endParaRPr b="1" sz="10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Proxy for top of funnel demand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Should increase if creators are driving awareness</a:t>
            </a:r>
            <a:endParaRPr b="1" sz="9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p49"/>
          <p:cNvSpPr txBox="1"/>
          <p:nvPr/>
        </p:nvSpPr>
        <p:spPr>
          <a:xfrm>
            <a:off x="310550" y="3161898"/>
            <a:ext cx="37917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Observation: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 Search Demand remained within expected range after Jan 2026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sustained deviation above baseline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9" name="Google Shape;249;p49"/>
          <p:cNvSpPr txBox="1"/>
          <p:nvPr/>
        </p:nvSpPr>
        <p:spPr>
          <a:xfrm>
            <a:off x="310550" y="1849253"/>
            <a:ext cx="37917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Approach:</a:t>
            </a:r>
            <a:endParaRPr b="1"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Built baseline using pre ramp data (2024 – 2025)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Forecasted expected enrollments without creator ramp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Compared actual vs expected post Jan 2026≈</a:t>
            </a:r>
            <a:endParaRPr b="1" sz="12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0" name="Google Shape;25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156" y="1355862"/>
            <a:ext cx="4809349" cy="23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9"/>
          <p:cNvSpPr txBox="1"/>
          <p:nvPr/>
        </p:nvSpPr>
        <p:spPr>
          <a:xfrm>
            <a:off x="969887" y="4427650"/>
            <a:ext cx="758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Increasing creator spend did </a:t>
            </a:r>
            <a:r>
              <a:rPr b="1" lang="en" sz="15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produce a measurable lift in brand search demand</a:t>
            </a:r>
            <a:endParaRPr sz="18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0"/>
          <p:cNvSpPr txBox="1"/>
          <p:nvPr>
            <p:ph type="title"/>
          </p:nvPr>
        </p:nvSpPr>
        <p:spPr>
          <a:xfrm>
            <a:off x="316469" y="207583"/>
            <a:ext cx="85740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Evaluating the Impact of Increased Creator Spend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7" name="Google Shape;257;p50"/>
          <p:cNvSpPr txBox="1"/>
          <p:nvPr/>
        </p:nvSpPr>
        <p:spPr>
          <a:xfrm>
            <a:off x="310545" y="885706"/>
            <a:ext cx="877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Creator Spend Increased Significantly in Early 2026</a:t>
            </a:r>
            <a:endParaRPr b="1"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8" name="Google Shape;25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125" y="1428793"/>
            <a:ext cx="4827524" cy="23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0"/>
          <p:cNvSpPr txBox="1"/>
          <p:nvPr/>
        </p:nvSpPr>
        <p:spPr>
          <a:xfrm>
            <a:off x="325213" y="1364475"/>
            <a:ext cx="3687600" cy="23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Context:</a:t>
            </a:r>
            <a:endParaRPr b="1" sz="15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685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Helvetica Neue"/>
              <a:buChar char="-"/>
            </a:pPr>
            <a:r>
              <a:rPr b="1" lang="en" sz="1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 Creator Spend (Oct - Dec 25) : </a:t>
            </a:r>
            <a:r>
              <a:rPr b="1" lang="en" sz="1300">
                <a:solidFill>
                  <a:srgbClr val="21C6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~$300k/month</a:t>
            </a:r>
            <a:endParaRPr b="1" sz="1300">
              <a:solidFill>
                <a:srgbClr val="21C6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68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Helvetica Neue"/>
              <a:buChar char="-"/>
            </a:pPr>
            <a:r>
              <a:rPr b="1" lang="en" sz="1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Ramp up Creator Spend (Jan - Mar 26) : </a:t>
            </a:r>
            <a:r>
              <a:rPr b="1" lang="en" sz="13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~$700k/month</a:t>
            </a:r>
            <a:endParaRPr b="1" sz="13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68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Helvetica Neue"/>
              <a:buChar char="-"/>
            </a:pPr>
            <a:r>
              <a:rPr b="1" lang="en" sz="1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paid marketing spend: </a:t>
            </a:r>
            <a:r>
              <a:rPr b="1" lang="en" sz="1300">
                <a:solidFill>
                  <a:srgbClr val="21C6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~$30M/month</a:t>
            </a:r>
            <a:endParaRPr b="1" sz="1300">
              <a:solidFill>
                <a:srgbClr val="21C6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50"/>
          <p:cNvSpPr txBox="1"/>
          <p:nvPr/>
        </p:nvSpPr>
        <p:spPr>
          <a:xfrm>
            <a:off x="1049267" y="4027641"/>
            <a:ext cx="7459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lvetica Neue"/>
              <a:buChar char="●"/>
            </a:pPr>
            <a:r>
              <a:rPr b="1" lang="en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Creators scaled from ~1% → ~2–3% of total spend</a:t>
            </a:r>
            <a:endParaRPr b="1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lvetica Neue"/>
              <a:buChar char="●"/>
            </a:pPr>
            <a:r>
              <a:rPr b="1" lang="en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this scale, creators are unlikely to drive detectable changes in aggregate metrics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1"/>
          <p:cNvSpPr txBox="1"/>
          <p:nvPr>
            <p:ph type="title"/>
          </p:nvPr>
        </p:nvSpPr>
        <p:spPr>
          <a:xfrm>
            <a:off x="316469" y="207583"/>
            <a:ext cx="85740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Takeaways and Next Steps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66" name="Google Shape;266;p51"/>
          <p:cNvSpPr txBox="1"/>
          <p:nvPr/>
        </p:nvSpPr>
        <p:spPr>
          <a:xfrm>
            <a:off x="310545" y="808761"/>
            <a:ext cx="87777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Takeaways</a:t>
            </a:r>
            <a:endParaRPr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Increasing creator spend from ~$300K → ~$700–800K/month did not produce a measurable lift in overall enrollments or brand search demand</a:t>
            </a:r>
            <a:endParaRPr sz="11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Creator impact is likely </a:t>
            </a:r>
            <a:r>
              <a:rPr b="1"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 small relative to overall system noise</a:t>
            </a:r>
            <a:r>
              <a:rPr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be detected in aggregate metrics</a:t>
            </a:r>
            <a:endParaRPr b="1" sz="11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51"/>
          <p:cNvSpPr txBox="1"/>
          <p:nvPr/>
        </p:nvSpPr>
        <p:spPr>
          <a:xfrm>
            <a:off x="356000" y="2162889"/>
            <a:ext cx="86868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Steps</a:t>
            </a:r>
            <a:endParaRPr b="1" sz="13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Incorporate creators into MMM</a:t>
            </a:r>
            <a:endParaRPr b="1" sz="11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Evaluate alongside full marketing mix to isolate contribution</a:t>
            </a:r>
            <a:endParaRPr sz="11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Create larger, structured spend variation</a:t>
            </a:r>
            <a:endParaRPr b="1" sz="11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Introduce </a:t>
            </a:r>
            <a:r>
              <a:rPr b="1"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clear step changes in spend (e.g., near $0 → ~$1M)</a:t>
            </a:r>
            <a:endParaRPr b="1" sz="11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for defined time windows (4 - 6 weeks) to generate measurable signal</a:t>
            </a:r>
            <a:endParaRPr sz="11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51"/>
          <p:cNvSpPr txBox="1"/>
          <p:nvPr/>
        </p:nvSpPr>
        <p:spPr>
          <a:xfrm>
            <a:off x="1053550" y="4398200"/>
            <a:ext cx="758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current scale, creator impact is not detectable in aggregate metrics and requires either larger controlled variation or MMM to measure reliably</a:t>
            </a:r>
            <a:endParaRPr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2"/>
          <p:cNvSpPr txBox="1"/>
          <p:nvPr>
            <p:ph type="title"/>
          </p:nvPr>
        </p:nvSpPr>
        <p:spPr>
          <a:xfrm>
            <a:off x="680344" y="1935508"/>
            <a:ext cx="85740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800">
                <a:solidFill>
                  <a:schemeClr val="dk1"/>
                </a:solidFill>
              </a:rPr>
              <a:t>Thank You!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3"/>
          <p:cNvSpPr txBox="1"/>
          <p:nvPr>
            <p:ph type="title"/>
          </p:nvPr>
        </p:nvSpPr>
        <p:spPr>
          <a:xfrm>
            <a:off x="356969" y="230687"/>
            <a:ext cx="87372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</a:rPr>
              <a:t>No Detectable Change in Organic Enrollments After Creator Spend Increase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9" name="Google Shape;279;p53"/>
          <p:cNvSpPr txBox="1"/>
          <p:nvPr/>
        </p:nvSpPr>
        <p:spPr>
          <a:xfrm>
            <a:off x="310550" y="951987"/>
            <a:ext cx="37917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Organic Enrollments?</a:t>
            </a:r>
            <a:endParaRPr b="1" sz="10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Proxy for top of funnel demand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Should increase if creators are driving awareness</a:t>
            </a:r>
            <a:endParaRPr b="1" sz="9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p53"/>
          <p:cNvSpPr txBox="1"/>
          <p:nvPr/>
        </p:nvSpPr>
        <p:spPr>
          <a:xfrm>
            <a:off x="310550" y="3161898"/>
            <a:ext cx="37917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Observation: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 Search Demand remained within expected range after Jan 2026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sustained deviation above baseline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p53"/>
          <p:cNvSpPr txBox="1"/>
          <p:nvPr/>
        </p:nvSpPr>
        <p:spPr>
          <a:xfrm>
            <a:off x="310550" y="1849253"/>
            <a:ext cx="37917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Approach:</a:t>
            </a:r>
            <a:endParaRPr b="1"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Built baseline using pre ramp data (2024 – 2025)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Forecasted expected enrollments without creator ramp</a:t>
            </a:r>
            <a:endParaRPr b="1" sz="1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Helvetica Neue"/>
              <a:buChar char="-"/>
            </a:pPr>
            <a:r>
              <a:rPr b="1" lang="en" sz="1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Compared actual vs expected post Jan 2026≈</a:t>
            </a:r>
            <a:endParaRPr b="1" sz="12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53"/>
          <p:cNvSpPr txBox="1"/>
          <p:nvPr/>
        </p:nvSpPr>
        <p:spPr>
          <a:xfrm>
            <a:off x="969887" y="4427650"/>
            <a:ext cx="758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Increasing creator spend did </a:t>
            </a:r>
            <a:r>
              <a:rPr b="1" lang="en" sz="15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produce a measurable lift in brand search demand</a:t>
            </a:r>
            <a:endParaRPr sz="18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3" name="Google Shape;28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925" y="1228024"/>
            <a:ext cx="4816499" cy="2362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ime Presentation Template">
  <a:themeElements>
    <a:clrScheme name="Simple Light">
      <a:dk1>
        <a:srgbClr val="ECF9EE"/>
      </a:dk1>
      <a:lt1>
        <a:srgbClr val="CCF2D2"/>
      </a:lt1>
      <a:dk2>
        <a:srgbClr val="1EC677"/>
      </a:dk2>
      <a:lt2>
        <a:srgbClr val="0D4029"/>
      </a:lt2>
      <a:accent1>
        <a:srgbClr val="FFFFFF"/>
      </a:accent1>
      <a:accent2>
        <a:srgbClr val="009C52"/>
      </a:accent2>
      <a:accent3>
        <a:srgbClr val="052316"/>
      </a:accent3>
      <a:accent4>
        <a:srgbClr val="FFD600"/>
      </a:accent4>
      <a:accent5>
        <a:srgbClr val="F7BDFE"/>
      </a:accent5>
      <a:accent6>
        <a:srgbClr val="B0E9E5"/>
      </a:accent6>
      <a:hlink>
        <a:srgbClr val="0D40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