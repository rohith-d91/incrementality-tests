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MID-FUNNEL TEST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1C677"/>
                </a:solidFill>
                <a:latin typeface="Arial"/>
              </a:rPr>
              <a:t>YouTube + Meta  |  March –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26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B399"/>
                </a:solidFill>
                <a:latin typeface="Arial"/>
              </a:rPr>
              <a:t>Chime Marketing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C677"/>
                </a:solidFill>
                <a:latin typeface="Arial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8412480" cy="45720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2121"/>
                </a:solidFill>
                <a:latin typeface="Arial"/>
              </a:rPr>
              <a:t>Mid-funnel advertising drives web intent and brand consideration at Chime.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53312"/>
            <a:ext cx="8412480" cy="27432"/>
          </a:xfrm>
          <a:prstGeom prst="rect">
            <a:avLst/>
          </a:prstGeom>
          <a:solidFill>
            <a:srgbClr val="CCF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64008" cy="1325880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9768" y="1463040"/>
            <a:ext cx="263347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72768"/>
            <a:ext cx="2441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Arial"/>
              </a:rPr>
              <a:t>✓  The 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20240"/>
            <a:ext cx="2441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Arial"/>
              </a:rPr>
              <a:t>Both YouTube &amp; Meta drove statistically significant lift in web visitors. Meta also delivered strong brand results: +7.8 pts Consideration (13× industry benchmark) and +7.2 pts Ad Recall.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463040"/>
            <a:ext cx="64008" cy="1325880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7" y="1463040"/>
            <a:ext cx="263347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572768"/>
            <a:ext cx="2441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Arial"/>
              </a:rPr>
              <a:t>↗  Enrollment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1920240"/>
            <a:ext cx="2441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Arial"/>
              </a:rPr>
              <a:t>Directional positive movement on enrollments on both channels — not statistically conclusive. Stakeholders should note encouraging positive directional signals are present.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64008" cy="1325880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463040"/>
            <a:ext cx="2569464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1572768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Arial"/>
              </a:rPr>
              <a:t>→  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920240"/>
            <a:ext cx="23774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Arial"/>
              </a:rPr>
              <a:t>Run mid-funnel campaigns alongside DR to measure whether mid-funnel warms the funnel, improves DR efficiency, or drives more total enrollments.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Arial"/>
              </a:rPr>
              <a:t>Combined test spend: ~$909K  |  YouTube: 41 treatment DMAs vs 49 control  |  Meta: 4.38M reach, 10% holdout  |  Mar 19 – Apr 15,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C677"/>
                </a:solidFill>
                <a:latin typeface="Arial"/>
              </a:rPr>
              <a:t>TEST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12121"/>
                </a:solidFill>
                <a:latin typeface="Arial"/>
              </a:rPr>
              <a:t>Three-Cell DMA Geo Experiment: US Markets Split Across Two Channels +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2651760" cy="365760"/>
          </a:xfrm>
          <a:prstGeom prst="rect">
            <a:avLst/>
          </a:prstGeom>
          <a:solidFill>
            <a:srgbClr val="0D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344168"/>
            <a:ext cx="24505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Cell A — YouTube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6517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755648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Arial"/>
              </a:rPr>
              <a:t>YouTube mid-funnel video
(consideration campaigns)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100" b="1">
                <a:solidFill>
                  <a:srgbClr val="212121"/>
                </a:solidFill>
                <a:latin typeface="Arial"/>
              </a:rPr>
              <a:t>Spend: $499,638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41 DMAs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325880"/>
            <a:ext cx="2651760" cy="36576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344168"/>
            <a:ext cx="24505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Cell B — Meta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691640"/>
            <a:ext cx="26517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1" y="1755648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Arial"/>
              </a:rPr>
              <a:t>Meta mid-funnel social
(web visitors + brand lift)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100" b="1">
                <a:solidFill>
                  <a:srgbClr val="212121"/>
                </a:solidFill>
                <a:latin typeface="Arial"/>
              </a:rPr>
              <a:t>Spend: $409,000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~60 DMAs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2651760" cy="3657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344168"/>
            <a:ext cx="2450592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Cell C —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91640"/>
            <a:ext cx="265176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755648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Arial"/>
              </a:rPr>
              <a:t>No mid-funnel campaigns
running during test period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100" b="1">
                <a:solidFill>
                  <a:srgbClr val="212121"/>
                </a:solidFill>
                <a:latin typeface="Arial"/>
              </a:rPr>
              <a:t>Spend: —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49 DMAs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22191"/>
            <a:ext cx="8412480" cy="27432"/>
          </a:xfrm>
          <a:prstGeom prst="rect">
            <a:avLst/>
          </a:prstGeom>
          <a:solidFill>
            <a:srgbClr val="CCF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91363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Arial"/>
              </a:rPr>
              <a:t>All DMAs pre-matched on historical enrollment and web traffic baselines. Measurement: Google Matched Markets + TBR (Cell A)  |  Meta Conversion Lift + Brand Lift Study (Cell 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C677"/>
                </a:solidFill>
                <a:latin typeface="Arial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12121"/>
                </a:solidFill>
                <a:latin typeface="Arial"/>
              </a:rPr>
              <a:t>Two Independent Measurement Methods — Each Validated by Channel Partner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4069080" cy="365760"/>
          </a:xfrm>
          <a:prstGeom prst="rect">
            <a:avLst/>
          </a:prstGeom>
          <a:solidFill>
            <a:srgbClr val="0D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44168"/>
            <a:ext cx="3840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YouTube — Matched Markets + TBR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40690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764792"/>
            <a:ext cx="382219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Time-Based Regression builds a synthetic counterfactual from pre-period control DMA data, then measures the gap vs. treatment DMAs during the test.</a:t>
            </a:r>
          </a:p>
          <a:p>
            <a:pPr algn="l"/>
            <a:r>
              <a:rPr sz="600" b="0">
                <a:latin typeface="Arial"/>
              </a:rPr>
              <a:t/>
            </a:r>
          </a:p>
          <a:p>
            <a:pPr algn="l"/>
            <a:r>
              <a:rPr sz="1050" b="1">
                <a:solidFill>
                  <a:srgbClr val="212121"/>
                </a:solidFill>
                <a:latin typeface="Arial"/>
              </a:rPr>
              <a:t>Study Period:  Mar 22 – Apr 15, 2026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Treatment: 41 DMAs  |  Control: 49 DMAs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Spend: $499,638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Metrics: Unique Visitors, CTA Taps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325880"/>
            <a:ext cx="4069080" cy="36576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44168"/>
            <a:ext cx="3840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Meta — Conversion Lift + Brand Lift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691640"/>
            <a:ext cx="40690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73752" y="1764792"/>
            <a:ext cx="3822191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Conversion Lift uses a 10% user-level holdout group to measure incremental conversions caused by ads. Brand Lift surveys both groups on awareness and consideration.</a:t>
            </a:r>
          </a:p>
          <a:p>
            <a:pPr algn="l"/>
            <a:r>
              <a:rPr sz="600" b="0">
                <a:latin typeface="Arial"/>
              </a:rPr>
              <a:t/>
            </a:r>
          </a:p>
          <a:p>
            <a:pPr algn="l"/>
            <a:r>
              <a:rPr sz="1050" b="1">
                <a:solidFill>
                  <a:srgbClr val="212121"/>
                </a:solidFill>
                <a:latin typeface="Arial"/>
              </a:rPr>
              <a:t>Study Period:  Mar 18 – Apr 15, 2026 (28 days)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Reach: 4.38M  |  Frequency: 5.7x  |  Holdout: 10%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Spend: $409,000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Metrics: Web Visits, Purchases, Brand Lift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C677"/>
                </a:solidFill>
                <a:latin typeface="Arial"/>
              </a:rPr>
              <a:t>HEADLINE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212121"/>
                </a:solidFill>
                <a:latin typeface="Arial"/>
              </a:rPr>
              <a:t>Both channels drove significant mid-funnel lift — independently confirmed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98448"/>
          <a:ext cx="8412479" cy="2624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28800"/>
                <a:gridCol w="2103120"/>
                <a:gridCol w="2606040"/>
              </a:tblGrid>
              <a:tr h="37490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0D40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YouTube</a:t>
                      </a:r>
                    </a:p>
                  </a:txBody>
                  <a:tcPr>
                    <a:solidFill>
                      <a:srgbClr val="0D40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Meta</a:t>
                      </a:r>
                    </a:p>
                  </a:txBody>
                  <a:tcPr>
                    <a:solidFill>
                      <a:srgbClr val="187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>
                    <a:solidFill>
                      <a:srgbClr val="595959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12121"/>
                          </a:solidFill>
                          <a:latin typeface="Arial"/>
                        </a:rPr>
                        <a:t>Web Visitor Lift (abs.)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D4029"/>
                          </a:solidFill>
                          <a:latin typeface="Arial"/>
                        </a:rPr>
                        <a:t>+237,500</a:t>
                      </a:r>
                    </a:p>
                  </a:txBody>
                  <a:tcPr>
                    <a:solidFill>
                      <a:srgbClr val="CCF2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877F2"/>
                          </a:solidFill>
                          <a:latin typeface="Arial"/>
                        </a:rPr>
                        <a:t>+2,143</a:t>
                      </a:r>
                    </a:p>
                  </a:txBody>
                  <a:tcPr>
                    <a:solidFill>
                      <a:srgbClr val="D0E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Different methodologies — see appendix</a:t>
                      </a:r>
                    </a:p>
                  </a:txBody>
                  <a:tcPr/>
                </a:tc>
              </a:tr>
              <a:tr h="374903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12121"/>
                          </a:solidFill>
                          <a:latin typeface="Arial"/>
                        </a:rPr>
                        <a:t>Web Visitor Relative Lift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D4029"/>
                          </a:solidFill>
                          <a:latin typeface="Arial"/>
                        </a:rPr>
                        <a:t>+66.2%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877F2"/>
                          </a:solidFill>
                          <a:latin typeface="Arial"/>
                        </a:rPr>
                        <a:t>&gt;99.9% confidence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Both stat. significant</a:t>
                      </a:r>
                    </a:p>
                  </a:txBody>
                  <a:tcPr/>
                </a:tc>
              </a:tr>
              <a:tr h="374903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12121"/>
                          </a:solidFill>
                          <a:latin typeface="Arial"/>
                        </a:rPr>
                        <a:t>iCPA (web visitors)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12121"/>
                          </a:solidFill>
                          <a:latin typeface="Arial"/>
                        </a:rPr>
                        <a:t>$2.03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12121"/>
                          </a:solidFill>
                          <a:latin typeface="Arial"/>
                        </a:rPr>
                        <a:t>$191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</a:tr>
              <a:tr h="374903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12121"/>
                          </a:solidFill>
                          <a:latin typeface="Arial"/>
                        </a:rPr>
                        <a:t>Consideration Lift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—  (not measured)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877F2"/>
                          </a:solidFill>
                          <a:latin typeface="Arial"/>
                        </a:rPr>
                        <a:t>+7.8 pts (13× benchmark)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Brand Lift not run for YouTube</a:t>
                      </a:r>
                    </a:p>
                  </a:txBody>
                  <a:tcPr/>
                </a:tc>
              </a:tr>
              <a:tr h="374903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12121"/>
                          </a:solidFill>
                          <a:latin typeface="Arial"/>
                        </a:rPr>
                        <a:t>Ad Recall Lift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—  (not measured)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877F2"/>
                          </a:solidFill>
                          <a:latin typeface="Arial"/>
                        </a:rPr>
                        <a:t>+7.2 pts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</a:tr>
              <a:tr h="374909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12121"/>
                          </a:solidFill>
                          <a:latin typeface="Arial"/>
                        </a:rPr>
                        <a:t>Enrollment Lift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Directional (+)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+103 (68% confidence)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Not stat sig — see slide 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Arial"/>
              </a:rPr>
              <a:t>See appendix for apples-to-apples cross-channel comparison on visits and enrollments.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C677"/>
                </a:solidFill>
                <a:latin typeface="Arial"/>
              </a:rPr>
              <a:t>YOUTUBE RESULTS  |  WEB VISITORS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2121"/>
                </a:solidFill>
                <a:latin typeface="Arial"/>
              </a:rPr>
              <a:t>YouTube drove +237,500 incremental unique visitors at $2.03 iCPA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920240" cy="64008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35608"/>
            <a:ext cx="1920240" cy="9875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463040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1C677"/>
                </a:solidFill>
                <a:latin typeface="Arial"/>
              </a:rPr>
              <a:t>+237.5K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920240"/>
            <a:ext cx="177393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Absolute Lift
(unique visitors)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371600"/>
            <a:ext cx="1920240" cy="64008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23160" y="1435608"/>
            <a:ext cx="1920240" cy="9875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463040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1C677"/>
                </a:solidFill>
                <a:latin typeface="Arial"/>
              </a:rPr>
              <a:t>66.2%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1920240"/>
            <a:ext cx="177393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Relative Lift
vs. counterfactual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1920240" cy="64008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435608"/>
            <a:ext cx="1920240" cy="9875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63040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1C677"/>
                </a:solidFill>
                <a:latin typeface="Arial"/>
              </a:rPr>
              <a:t>$2.03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20240"/>
            <a:ext cx="177393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iCPA
(incremental cost per visitor)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371600"/>
            <a:ext cx="1920240" cy="64008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1435608"/>
            <a:ext cx="1920240" cy="9875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463040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1C677"/>
                </a:solidFill>
                <a:latin typeface="Arial"/>
              </a:rPr>
              <a:t>39.8%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1920240"/>
            <a:ext cx="177393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Incrementality Factor
(% of attributed conversions
caused by media)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8412480" cy="27432"/>
          </a:xfrm>
          <a:prstGeom prst="rect">
            <a:avLst/>
          </a:prstGeom>
          <a:solidFill>
            <a:srgbClr val="CCF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761488"/>
            <a:ext cx="8412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Arial"/>
              </a:rPr>
              <a:t>Treatment DMAs diverged cleanly from control starting Mar 22. The lift was consistent and growing through the entire study period.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</a:rPr>
              <a:t>Confidence intervals: [233,547 – 241,562]  |  iCPA range: [$2.00 – $2.06]  |  Results statistically significant.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Arial"/>
              </a:rPr>
              <a:t>Source: Google TBR Geo Experiment  |  Campaign: dr_discovery_dg_video_consideration_mar26  |  Study period: Mar 22 – Apr 15, 2026  |  Spend: $499,638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C677"/>
                </a:solidFill>
                <a:latin typeface="Arial"/>
              </a:rPr>
              <a:t>YOUTUBE RESULTS  |  CTA TAPS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2121"/>
                </a:solidFill>
                <a:latin typeface="Arial"/>
              </a:rPr>
              <a:t>YouTube drove +4,737 incremental CTA taps — directional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920240" cy="64008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35608"/>
            <a:ext cx="1920240" cy="9875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463040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1C677"/>
                </a:solidFill>
                <a:latin typeface="Arial"/>
              </a:rPr>
              <a:t>+4,737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920240"/>
            <a:ext cx="177393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Absolute Lift
(CTA taps)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371600"/>
            <a:ext cx="1920240" cy="64008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23160" y="1435608"/>
            <a:ext cx="1920240" cy="9875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463040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1C677"/>
                </a:solidFill>
                <a:latin typeface="Arial"/>
              </a:rPr>
              <a:t>5.5%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1920240"/>
            <a:ext cx="177393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Relative Lift
vs. counterfactual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1920240" cy="64008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435608"/>
            <a:ext cx="1920240" cy="9875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63040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1C677"/>
                </a:solidFill>
                <a:latin typeface="Arial"/>
              </a:rPr>
              <a:t>$102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20240"/>
            <a:ext cx="177393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iCPA
(incremental cost per CTA tap)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371600"/>
            <a:ext cx="2286000" cy="10515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417320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56004"/>
                </a:solidFill>
                <a:latin typeface="Arial"/>
              </a:rPr>
              <a:t>⚠  Data Quality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1719072"/>
            <a:ext cx="2057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56004"/>
                </a:solidFill>
                <a:latin typeface="Arial"/>
              </a:rPr>
              <a:t>CTA tap data has poor treatment/control pre-period fit — treat as directional only.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33472"/>
            <a:ext cx="8412480" cy="27432"/>
          </a:xfrm>
          <a:prstGeom prst="rect">
            <a:avLst/>
          </a:prstGeom>
          <a:solidFill>
            <a:srgbClr val="CCF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761488"/>
            <a:ext cx="8412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Arial"/>
              </a:rPr>
              <a:t>Despite measurement noise, the directional lift in CTA taps is consistent with the web visitor lift — users in treated DMAs were more likely to engage with Chime product CTAs after seeing ads.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</a:rPr>
              <a:t>Confidence interval: [4,016 – 5,457]  |  Incrementality factor: 5.2%  |  Relative lift CI: [3.3% – 8.9%]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Arial"/>
              </a:rPr>
              <a:t>Source: Google TBR Geo Experiment  |  Study period + cooldown: Mar 22 – Apr 19, 2026  |  Spend: $499,638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C677"/>
                </a:solidFill>
                <a:latin typeface="Arial"/>
              </a:rPr>
              <a:t>META RESULTS  |  WEB VISITORS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2121"/>
                </a:solidFill>
                <a:latin typeface="Arial"/>
              </a:rPr>
              <a:t>Meta drove +2,143 incremental homepage visits at &gt;99.9% confidence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920240" cy="6400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35608"/>
            <a:ext cx="1920240" cy="9875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463040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877F2"/>
                </a:solidFill>
                <a:latin typeface="Arial"/>
              </a:rPr>
              <a:t>+2,143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920240"/>
            <a:ext cx="177393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Absolute Lift
(homepage visits)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371600"/>
            <a:ext cx="1920240" cy="6400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23160" y="1435608"/>
            <a:ext cx="1920240" cy="9875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463040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877F2"/>
                </a:solidFill>
                <a:latin typeface="Arial"/>
              </a:rPr>
              <a:t>&gt;99.9%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1920240"/>
            <a:ext cx="177393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Lift Score
(highest possible confidence)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1920240" cy="6400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435608"/>
            <a:ext cx="1920240" cy="9875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63040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877F2"/>
                </a:solidFill>
                <a:latin typeface="Arial"/>
              </a:rPr>
              <a:t>$191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20240"/>
            <a:ext cx="177393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Cost per
Incremental Visit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371600"/>
            <a:ext cx="1920240" cy="6400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1435608"/>
            <a:ext cx="1920240" cy="9875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463040"/>
            <a:ext cx="177393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877F2"/>
                </a:solidFill>
                <a:latin typeface="Arial"/>
              </a:rPr>
              <a:t>~120%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1920240"/>
            <a:ext cx="177393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Relative Lift
(3,933 actual vs 1,790 est.)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33472"/>
            <a:ext cx="8412480" cy="27432"/>
          </a:xfrm>
          <a:prstGeom prst="rect">
            <a:avLst/>
          </a:prstGeom>
          <a:solidFill>
            <a:srgbClr val="CCF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761488"/>
            <a:ext cx="8412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Arial"/>
              </a:rPr>
              <a:t>The test group generated more than double the estimated conversions of the control group (3,933 vs. 1,790), demonstrating ~120% relative lift on the primary mid-funnel objective.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950" b="0">
                <a:solidFill>
                  <a:srgbClr val="595959"/>
                </a:solidFill>
                <a:latin typeface="Arial"/>
              </a:rPr>
              <a:t>Confidence interval: 2,000 – 5,000  |  Reach: 4.38M accounts  |  Avg. frequency: 5.7x  |  Study ID: 958822573360737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Arial"/>
              </a:rPr>
              <a:t>Source: Meta Conversion Lift Study  |  Study period: Mar 18 – Apr 15, 2026  |  Spend: $409,000  |  Primary objective: Webpage Visitors – Homepage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C677"/>
                </a:solidFill>
                <a:latin typeface="Arial"/>
              </a:rPr>
              <a:t>META RESULTS  |  BRAND LIFT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12121"/>
                </a:solidFill>
                <a:latin typeface="Arial"/>
              </a:rPr>
              <a:t>Meta drove outsized brand impact — 13× industry benchmark on Consideration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4114800" cy="36576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344168"/>
            <a:ext cx="3840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Consideration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41148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764792"/>
            <a:ext cx="3886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877F2"/>
                </a:solidFill>
                <a:latin typeface="Arial"/>
              </a:rPr>
              <a:t>+7.8 pts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&gt;99.9% confidence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Arial"/>
              </a:rPr>
              <a:t>13× industry benchmark (+0.6 pts)  |  4× regional benchmark (+2.1 pts)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10.2% of audience moved OUT of 'will not consider' bucket.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'Only brand I will consider' grew +4.3 pts (+64% relative).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Statistically significant lift (90%+ confidence) across ALL age and gender cohorts.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25880"/>
            <a:ext cx="4114800" cy="36576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8032" y="1344168"/>
            <a:ext cx="3840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Unaided Ad 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691640"/>
            <a:ext cx="41148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1764792"/>
            <a:ext cx="3886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877F2"/>
                </a:solidFill>
                <a:latin typeface="Arial"/>
              </a:rPr>
              <a:t>+7.2 pts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&gt;99.9% confidence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Arial"/>
              </a:rPr>
              <a:t>Beats industry benchmark of +4.9 pts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While Chime gained ad recall, every listed competitor DECLINED:</a:t>
            </a:r>
          </a:p>
          <a:p>
            <a:pPr algn="l"/>
            <a:r>
              <a:rPr sz="1000" b="1">
                <a:solidFill>
                  <a:srgbClr val="212121"/>
                </a:solidFill>
                <a:latin typeface="Arial"/>
              </a:rPr>
              <a:t>Capital One −2.4 pts  |  Chase −1.8 pts  |  Cash App −1.0 pts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Chime dominated share of voice during the campaign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33672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Arial"/>
              </a:rPr>
              <a:t>Unaided Brand Awareness: +1.7 pts (65% confidence). Baseline already at 51% — inherently harder to move.  |  Source: Meta Brand Lift Study  |  Sample: 499–506 per group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C677"/>
                </a:solidFill>
                <a:latin typeface="Arial"/>
              </a:rPr>
              <a:t>ENROLLMENT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212121"/>
                </a:solidFill>
                <a:latin typeface="Arial"/>
              </a:rPr>
              <a:t>Directional positive signals on enrollments — not statistically conclusive on either channel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4069080" cy="365760"/>
          </a:xfrm>
          <a:prstGeom prst="rect">
            <a:avLst/>
          </a:prstGeom>
          <a:solidFill>
            <a:srgbClr val="0D4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44168"/>
            <a:ext cx="3840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YouTube — Enrollment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40690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64792"/>
            <a:ext cx="38587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12121"/>
                </a:solidFill>
                <a:latin typeface="Arial"/>
              </a:rPr>
              <a:t>Result: Directional positive, not stat sig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TBR analysis on enrollments shows a positive point estimate. Confidence intervals are wide due to sparse DMA-level enrollment volumes — the test was not powered to detect enrollment-level impact conclusively.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325880"/>
            <a:ext cx="4069080" cy="36576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44168"/>
            <a:ext cx="3840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Meta — Enrollment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691640"/>
            <a:ext cx="40690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764792"/>
            <a:ext cx="385876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12121"/>
                </a:solidFill>
                <a:latin typeface="Arial"/>
              </a:rPr>
              <a:t>+103 incremental purchases  |  68% confidence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Meta's Conversion Lift recorded 103 incremental purchases (3,278 test vs. 3,175 estimated control). Below the 90% statistical significance threshold — but directionally positive. Enrollment iCPA: $3,969.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56432"/>
            <a:ext cx="8412480" cy="27432"/>
          </a:xfrm>
          <a:prstGeom prst="rect">
            <a:avLst/>
          </a:prstGeom>
          <a:solidFill>
            <a:srgbClr val="CCF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56616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  <a:latin typeface="Arial"/>
              </a:rPr>
              <a:t>Why no stat sig enrollment lift?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13632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Arial"/>
              </a:rPr>
              <a:t>Mid-funnel campaigns target awareness and consideration — not direct response. Enrollment impact requires more time and volume to detect: (1) Enrollment volumes per DMA-day are low → wide CIs.  (2) 28-day window may not fully capture conversion lag from late-window impressions.  (3) Geo-level TBR has less statistical power on low-volume metrics than on web visitors.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C677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212121"/>
                </a:solidFill>
                <a:latin typeface="Arial"/>
              </a:rPr>
              <a:t>Recommended: Run mid-funnel alongside DR to measure funnel efficiency and enrollment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8412480" cy="64008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841248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8092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029"/>
                </a:solidFill>
                <a:latin typeface="Arial"/>
              </a:rPr>
              <a:t>Hypothesis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Arial"/>
              </a:rPr>
              <a:t>Mid-funnel campaigns build consideration and intent. Running them alongside DR may (a) improve DR efficiency by pre-qualifying audiences, or (b) drive more total enrollments by expanding the top of the funnel. We have not yet tested this combination.</a:t>
            </a:r>
          </a:p>
          <a:p>
            <a:pPr algn="l"/>
            <a:r>
              <a:rPr sz="800" b="0">
                <a:latin typeface="Arial"/>
              </a:rPr>
              <a:t/>
            </a:r>
          </a:p>
          <a:p>
            <a:pPr algn="l"/>
            <a:r>
              <a:rPr sz="1300" b="1">
                <a:solidFill>
                  <a:srgbClr val="0D4029"/>
                </a:solidFill>
                <a:latin typeface="Arial"/>
              </a:rPr>
              <a:t>Proposed Next Step</a:t>
            </a:r>
          </a:p>
          <a:p>
            <a:pPr algn="l"/>
            <a:r>
              <a:rPr sz="500" b="0">
                <a:latin typeface="Arial"/>
              </a:rPr>
              <a:t/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Arial"/>
              </a:rPr>
              <a:t>Design and run a geo test: Cell 1 = Mid-funnel + DR combined  vs.  Cell 2 = DR only. Measure enrollment lift and DR efficiency (CPA, iCPA) across both cells. Run for 6–8 weeks minimum to capture enrollment conversion lag.</a:t>
            </a:r>
          </a:p>
          <a:p>
            <a:pPr algn="l"/>
            <a:r>
              <a:rPr sz="800" b="0">
                <a:latin typeface="Arial"/>
              </a:rPr>
              <a:t/>
            </a:r>
          </a:p>
          <a:p>
            <a:pPr algn="l"/>
            <a:r>
              <a:rPr sz="1200" b="1">
                <a:solidFill>
                  <a:srgbClr val="21C677"/>
                </a:solidFill>
                <a:latin typeface="Arial"/>
              </a:rPr>
              <a:t>We will begin scoping this with Google and Meta as a next step.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251960"/>
            <a:ext cx="8412480" cy="658368"/>
          </a:xfrm>
          <a:prstGeom prst="rect">
            <a:avLst/>
          </a:prstGeom>
          <a:solidFill>
            <a:srgbClr val="CCF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315968"/>
            <a:ext cx="8092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4029"/>
                </a:solidFill>
                <a:latin typeface="Arial"/>
              </a:rPr>
              <a:t>This test will also help answer: Is YouTube or Meta more efficient at driving enrollments? What is the optimal budget split between mid-funnel and DR?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0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1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1C677"/>
                </a:solidFill>
                <a:latin typeface="Arial"/>
              </a:rPr>
              <a:t>Appendix on next slides.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262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B399"/>
                </a:solidFill>
                <a:latin typeface="Arial"/>
              </a:rPr>
              <a:t>Chime Marketing  |  May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1C677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75488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12121"/>
                </a:solidFill>
                <a:latin typeface="Arial"/>
              </a:rPr>
              <a:t>Cross-Channel Comparison: Visits &amp; Enrollments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98448"/>
          <a:ext cx="8412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965960"/>
                <a:gridCol w="2194560"/>
                <a:gridCol w="25603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0D40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YouTube  (TBR)</a:t>
                      </a:r>
                    </a:p>
                  </a:txBody>
                  <a:tcPr>
                    <a:solidFill>
                      <a:srgbClr val="0D40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Meta  (Conversion Lift)</a:t>
                      </a:r>
                    </a:p>
                  </a:txBody>
                  <a:tcPr>
                    <a:solidFill>
                      <a:srgbClr val="187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>
                    <a:solidFill>
                      <a:srgbClr val="59595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12121"/>
                          </a:solidFill>
                          <a:latin typeface="Arial"/>
                        </a:rPr>
                        <a:t>Measurement Method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Geo-level TBR (DMA holdout)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User-level holdout (10%)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Not directly comparable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12121"/>
                          </a:solidFill>
                          <a:latin typeface="Arial"/>
                        </a:rPr>
                        <a:t>Web Visitor Lift (abs.)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D4029"/>
                          </a:solidFill>
                          <a:latin typeface="Arial"/>
                        </a:rPr>
                        <a:t>+237,500</a:t>
                      </a:r>
                    </a:p>
                  </a:txBody>
                  <a:tcPr>
                    <a:solidFill>
                      <a:srgbClr val="CCF2D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877F2"/>
                          </a:solidFill>
                          <a:latin typeface="Arial"/>
                        </a:rPr>
                        <a:t>+2,143</a:t>
                      </a:r>
                    </a:p>
                  </a:txBody>
                  <a:tcPr>
                    <a:solidFill>
                      <a:srgbClr val="D0E9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Different scale by design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12121"/>
                          </a:solidFill>
                          <a:latin typeface="Arial"/>
                        </a:rPr>
                        <a:t>Web Visitor Relative Lift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D4029"/>
                          </a:solidFill>
                          <a:latin typeface="Arial"/>
                        </a:rPr>
                        <a:t>+66.2%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877F2"/>
                          </a:solidFill>
                          <a:latin typeface="Arial"/>
                        </a:rPr>
                        <a:t>~120% (3,933 vs 1,790 est.)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12121"/>
                          </a:solidFill>
                          <a:latin typeface="Arial"/>
                        </a:rPr>
                        <a:t>Web Visitor iCPA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12121"/>
                          </a:solidFill>
                          <a:latin typeface="Arial"/>
                        </a:rPr>
                        <a:t>$2.03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12121"/>
                          </a:solidFill>
                          <a:latin typeface="Arial"/>
                        </a:rPr>
                        <a:t>$191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Units differ (visits vs sessions)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12121"/>
                          </a:solidFill>
                          <a:latin typeface="Arial"/>
                        </a:rPr>
                        <a:t>Enrollment Lift (abs.)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Directional positive (not stat sig)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+103 incremental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68% confidence (Meta)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12121"/>
                          </a:solidFill>
                          <a:latin typeface="Arial"/>
                        </a:rPr>
                        <a:t>Enrollment Confidence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Below 90% threshold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68% (below 90% threshold)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Neither channel stat sig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212121"/>
                          </a:solidFill>
                          <a:latin typeface="Arial"/>
                        </a:rPr>
                        <a:t>Enrollment iCPA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TBD — see Hex TBR analysis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12121"/>
                          </a:solidFill>
                          <a:latin typeface="Arial"/>
                        </a:rPr>
                        <a:t>$3,969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595959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626864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95959"/>
                </a:solidFill>
                <a:latin typeface="Arial"/>
              </a:rPr>
              <a:t>Note: YouTube measured via Matched Markets TBR (geo-level). Meta measured via Conversion Lift holdout (user-level). Metrics reflect different methodologies and should not be directly compared.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