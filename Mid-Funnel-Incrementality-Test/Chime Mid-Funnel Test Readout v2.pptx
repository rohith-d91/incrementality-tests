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40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" y="1463040"/>
            <a:ext cx="6400800" cy="1645920"/>
          </a:xfrm>
          <a:prstGeom prst="rect">
            <a:avLst/>
          </a:prstGeom>
          <a:solidFill>
            <a:srgbClr val="0A3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572768"/>
            <a:ext cx="7772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ECF9EE"/>
                </a:solidFill>
                <a:latin typeface="Arial"/>
              </a:rPr>
              <a:t>MID-FUNNEL TEST READOUT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33172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21C677"/>
                </a:solidFill>
                <a:latin typeface="Arial"/>
              </a:rPr>
              <a:t>YouTube + Meta  |  March – April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66344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FB399"/>
                </a:solidFill>
                <a:latin typeface="Arial"/>
              </a:rPr>
              <a:t>Chime Marketing  |  May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40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" y="210312"/>
            <a:ext cx="8503920" cy="658368"/>
          </a:xfrm>
          <a:prstGeom prst="rect">
            <a:avLst/>
          </a:prstGeom>
          <a:solidFill>
            <a:srgbClr val="ECF9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8321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D4029"/>
                </a:solidFill>
                <a:latin typeface="Arial"/>
              </a:rPr>
              <a:t>Mid-funnel advertising drives web intent and consideration at Chime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960120"/>
            <a:ext cx="5029200" cy="1600200"/>
          </a:xfrm>
          <a:prstGeom prst="rect">
            <a:avLst/>
          </a:prstGeom>
          <a:solidFill>
            <a:srgbClr val="1EC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69848"/>
            <a:ext cx="48006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What worked</a:t>
            </a:r>
          </a:p>
          <a:p>
            <a:pPr algn="l">
              <a:spcBef>
                <a:spcPts val="300"/>
              </a:spcBef>
            </a:pPr>
            <a:r>
              <a:rPr sz="1050" b="0">
                <a:solidFill>
                  <a:srgbClr val="FFFFFF"/>
                </a:solidFill>
                <a:latin typeface="Arial"/>
              </a:rPr>
              <a:t>YouTube: +237.5K incremental web visitors  |  $2.03 iCPA</a:t>
            </a:r>
          </a:p>
          <a:p>
            <a:pPr algn="l">
              <a:spcBef>
                <a:spcPts val="300"/>
              </a:spcBef>
            </a:pPr>
            <a:r>
              <a:rPr sz="1050" b="0">
                <a:solidFill>
                  <a:srgbClr val="FFFFFF"/>
                </a:solidFill>
                <a:latin typeface="Arial"/>
              </a:rPr>
              <a:t>Meta web: +2,143 homepage visits  |  &gt;99.9% confidence  |  $191/visit</a:t>
            </a:r>
          </a:p>
          <a:p>
            <a:pPr algn="l">
              <a:spcBef>
                <a:spcPts val="300"/>
              </a:spcBef>
            </a:pPr>
            <a:r>
              <a:rPr sz="1050" b="0">
                <a:solidFill>
                  <a:srgbClr val="FFFFFF"/>
                </a:solidFill>
                <a:latin typeface="Arial"/>
              </a:rPr>
              <a:t>Meta brand: +7.8 pts Consideration — 13× industry benchmark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2651760"/>
            <a:ext cx="5029200" cy="1005840"/>
          </a:xfrm>
          <a:prstGeom prst="rect">
            <a:avLst/>
          </a:prstGeom>
          <a:solidFill>
            <a:srgbClr val="1EC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761488"/>
            <a:ext cx="4800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Enrollment signal</a:t>
            </a:r>
          </a:p>
          <a:p>
            <a:pPr algn="l">
              <a:spcBef>
                <a:spcPts val="300"/>
              </a:spcBef>
            </a:pPr>
            <a:r>
              <a:rPr sz="1050" b="0">
                <a:solidFill>
                  <a:srgbClr val="FFFFFF"/>
                </a:solidFill>
                <a:latin typeface="Arial"/>
              </a:rPr>
              <a:t>Directional positive on both channels</a:t>
            </a:r>
          </a:p>
          <a:p>
            <a:pPr algn="l">
              <a:spcBef>
                <a:spcPts val="300"/>
              </a:spcBef>
            </a:pPr>
            <a:r>
              <a:rPr sz="1050" b="0">
                <a:solidFill>
                  <a:srgbClr val="FFFFFF"/>
                </a:solidFill>
                <a:latin typeface="Arial"/>
              </a:rPr>
              <a:t>Not statistically conclusive — expected at this test scale</a:t>
            </a:r>
          </a:p>
        </p:txBody>
      </p:sp>
      <p:sp>
        <p:nvSpPr>
          <p:cNvPr id="8" name="Rectangle 7"/>
          <p:cNvSpPr/>
          <p:nvPr/>
        </p:nvSpPr>
        <p:spPr>
          <a:xfrm>
            <a:off x="5440680" y="960120"/>
            <a:ext cx="2148840" cy="1005840"/>
          </a:xfrm>
          <a:prstGeom prst="rect">
            <a:avLst/>
          </a:prstGeom>
          <a:solidFill>
            <a:srgbClr val="092E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0" y="1005840"/>
            <a:ext cx="2057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21C677"/>
                </a:solidFill>
                <a:latin typeface="Arial"/>
              </a:rPr>
              <a:t>66%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1508760"/>
            <a:ext cx="2057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F2D2"/>
                </a:solidFill>
                <a:latin typeface="Arial"/>
              </a:rPr>
              <a:t>YouTube relative
web lift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35240" y="960120"/>
            <a:ext cx="2148840" cy="1005840"/>
          </a:xfrm>
          <a:prstGeom prst="rect">
            <a:avLst/>
          </a:prstGeom>
          <a:solidFill>
            <a:srgbClr val="092E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0" y="1005840"/>
            <a:ext cx="2057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21C677"/>
                </a:solidFill>
                <a:latin typeface="Arial"/>
              </a:rPr>
              <a:t>&gt;99.9%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0" y="1508760"/>
            <a:ext cx="2057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F2D2"/>
                </a:solidFill>
                <a:latin typeface="Arial"/>
              </a:rPr>
              <a:t>Meta confidence
on web visits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40680" y="2057400"/>
            <a:ext cx="2148840" cy="1005840"/>
          </a:xfrm>
          <a:prstGeom prst="rect">
            <a:avLst/>
          </a:prstGeom>
          <a:solidFill>
            <a:srgbClr val="092E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0" y="2103120"/>
            <a:ext cx="2057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21C677"/>
                </a:solidFill>
                <a:latin typeface="Arial"/>
              </a:rPr>
              <a:t>13×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2606040"/>
            <a:ext cx="2057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F2D2"/>
                </a:solidFill>
                <a:latin typeface="Arial"/>
              </a:rPr>
              <a:t>Meta Consideration
vs. benchmark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35240" y="2057400"/>
            <a:ext cx="2148840" cy="1005840"/>
          </a:xfrm>
          <a:prstGeom prst="rect">
            <a:avLst/>
          </a:prstGeom>
          <a:solidFill>
            <a:srgbClr val="092E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80960" y="2103120"/>
            <a:ext cx="2057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21C677"/>
                </a:solidFill>
                <a:latin typeface="Arial"/>
              </a:rPr>
              <a:t>$2.03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0960" y="2606040"/>
            <a:ext cx="2057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F2D2"/>
                </a:solidFill>
                <a:latin typeface="Arial"/>
              </a:rPr>
              <a:t>YouTube iCPA
(per web visitor)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4407408"/>
            <a:ext cx="850392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4453128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D4029"/>
                </a:solidFill>
                <a:latin typeface="Arial"/>
              </a:rPr>
              <a:t>Next: Run mid-funnel alongside DR campaigns to test whether it improves efficiency or drives more enrollments.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40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" y="210312"/>
            <a:ext cx="8503920" cy="658368"/>
          </a:xfrm>
          <a:prstGeom prst="rect">
            <a:avLst/>
          </a:prstGeom>
          <a:solidFill>
            <a:srgbClr val="ECF9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8321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D4029"/>
                </a:solidFill>
                <a:latin typeface="Arial"/>
              </a:rPr>
              <a:t>3-cell DMA geo test — YouTube vs Meta vs Control, March–April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960120"/>
            <a:ext cx="2743200" cy="1783080"/>
          </a:xfrm>
          <a:prstGeom prst="rect">
            <a:avLst/>
          </a:prstGeom>
          <a:solidFill>
            <a:srgbClr val="1EC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69848"/>
            <a:ext cx="251460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Cell A — YouTube</a:t>
            </a:r>
          </a:p>
          <a:p>
            <a:pPr algn="l">
              <a:spcBef>
                <a:spcPts val="300"/>
              </a:spcBef>
            </a:pPr>
            <a:r>
              <a:rPr sz="1050" b="0">
                <a:solidFill>
                  <a:srgbClr val="FFFFFF"/>
                </a:solidFill>
                <a:latin typeface="Arial"/>
              </a:rPr>
              <a:t>Consideration video campaigns</a:t>
            </a:r>
          </a:p>
          <a:p>
            <a:pPr algn="l">
              <a:spcBef>
                <a:spcPts val="300"/>
              </a:spcBef>
            </a:pPr>
            <a:r>
              <a:rPr sz="1050" b="0">
                <a:solidFill>
                  <a:srgbClr val="FFFFFF"/>
                </a:solidFill>
                <a:latin typeface="Arial"/>
              </a:rPr>
              <a:t>$499,638 spend</a:t>
            </a:r>
          </a:p>
          <a:p>
            <a:pPr algn="l">
              <a:spcBef>
                <a:spcPts val="300"/>
              </a:spcBef>
            </a:pPr>
            <a:r>
              <a:rPr sz="1050" b="0">
                <a:solidFill>
                  <a:srgbClr val="FFFFFF"/>
                </a:solidFill>
                <a:latin typeface="Arial"/>
              </a:rPr>
              <a:t>41 treatment DMAs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0" y="960120"/>
            <a:ext cx="2743200" cy="1783080"/>
          </a:xfrm>
          <a:prstGeom prst="rect">
            <a:avLst/>
          </a:prstGeom>
          <a:solidFill>
            <a:srgbClr val="1EC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337560" y="1069848"/>
            <a:ext cx="251460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Cell B — Meta</a:t>
            </a:r>
          </a:p>
          <a:p>
            <a:pPr algn="l">
              <a:spcBef>
                <a:spcPts val="300"/>
              </a:spcBef>
            </a:pPr>
            <a:r>
              <a:rPr sz="1050" b="0">
                <a:solidFill>
                  <a:srgbClr val="FFFFFF"/>
                </a:solidFill>
                <a:latin typeface="Arial"/>
              </a:rPr>
              <a:t>Mid-funnel social campaigns</a:t>
            </a:r>
          </a:p>
          <a:p>
            <a:pPr algn="l">
              <a:spcBef>
                <a:spcPts val="300"/>
              </a:spcBef>
            </a:pPr>
            <a:r>
              <a:rPr sz="1050" b="0">
                <a:solidFill>
                  <a:srgbClr val="FFFFFF"/>
                </a:solidFill>
                <a:latin typeface="Arial"/>
              </a:rPr>
              <a:t>$409,000 spend</a:t>
            </a:r>
          </a:p>
          <a:p>
            <a:pPr algn="l">
              <a:spcBef>
                <a:spcPts val="300"/>
              </a:spcBef>
            </a:pPr>
            <a:r>
              <a:rPr sz="1050" b="0">
                <a:solidFill>
                  <a:srgbClr val="FFFFFF"/>
                </a:solidFill>
                <a:latin typeface="Arial"/>
              </a:rPr>
              <a:t>~60 DMAs</a:t>
            </a:r>
          </a:p>
        </p:txBody>
      </p:sp>
      <p:sp>
        <p:nvSpPr>
          <p:cNvPr id="8" name="Rectangle 7"/>
          <p:cNvSpPr/>
          <p:nvPr/>
        </p:nvSpPr>
        <p:spPr>
          <a:xfrm>
            <a:off x="6080760" y="960120"/>
            <a:ext cx="2743200" cy="1783080"/>
          </a:xfrm>
          <a:prstGeom prst="rect">
            <a:avLst/>
          </a:prstGeom>
          <a:solidFill>
            <a:srgbClr val="1EC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0" y="1069848"/>
            <a:ext cx="251460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Cell C — Control</a:t>
            </a:r>
          </a:p>
          <a:p>
            <a:pPr algn="l">
              <a:spcBef>
                <a:spcPts val="300"/>
              </a:spcBef>
            </a:pPr>
            <a:r>
              <a:rPr sz="1050" b="0">
                <a:solidFill>
                  <a:srgbClr val="FFFFFF"/>
                </a:solidFill>
                <a:latin typeface="Arial"/>
              </a:rPr>
              <a:t>No mid-funnel running</a:t>
            </a:r>
          </a:p>
          <a:p>
            <a:pPr algn="l">
              <a:spcBef>
                <a:spcPts val="300"/>
              </a:spcBef>
            </a:pPr>
            <a:r>
              <a:rPr sz="1050" b="0">
                <a:solidFill>
                  <a:srgbClr val="FFFFFF"/>
                </a:solidFill>
                <a:latin typeface="Arial"/>
              </a:rPr>
              <a:t>Baseline measurement</a:t>
            </a:r>
          </a:p>
          <a:p>
            <a:pPr algn="l">
              <a:spcBef>
                <a:spcPts val="300"/>
              </a:spcBef>
            </a:pPr>
            <a:r>
              <a:rPr sz="1050" b="0">
                <a:solidFill>
                  <a:srgbClr val="FFFFFF"/>
                </a:solidFill>
                <a:latin typeface="Arial"/>
              </a:rPr>
              <a:t>49 DMAs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2834640"/>
            <a:ext cx="5303520" cy="914400"/>
          </a:xfrm>
          <a:prstGeom prst="rect">
            <a:avLst/>
          </a:prstGeom>
          <a:solidFill>
            <a:srgbClr val="1EC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944368"/>
            <a:ext cx="5074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Google measurement: Matched Markets + Time-Based Regression (TBR)</a:t>
            </a:r>
          </a:p>
          <a:p>
            <a:pPr algn="l">
              <a:spcBef>
                <a:spcPts val="300"/>
              </a:spcBef>
            </a:pPr>
            <a:r>
              <a:rPr sz="1050" b="0">
                <a:solidFill>
                  <a:srgbClr val="FFFFFF"/>
                </a:solidFill>
                <a:latin typeface="Arial"/>
              </a:rPr>
              <a:t>Pre-period fit → synthetic counterfactual → gap = incremental lift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15000" y="2834640"/>
            <a:ext cx="3108960" cy="914400"/>
          </a:xfrm>
          <a:prstGeom prst="rect">
            <a:avLst/>
          </a:prstGeom>
          <a:solidFill>
            <a:srgbClr val="1EC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52160" y="2944368"/>
            <a:ext cx="2880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Meta measurement: Conversion Lift + Brand Lift Study</a:t>
            </a:r>
          </a:p>
          <a:p>
            <a:pPr algn="l">
              <a:spcBef>
                <a:spcPts val="300"/>
              </a:spcBef>
            </a:pPr>
            <a:r>
              <a:rPr sz="1050" b="0">
                <a:solidFill>
                  <a:srgbClr val="FFFFFF"/>
                </a:solidFill>
                <a:latin typeface="Arial"/>
              </a:rPr>
              <a:t>10% user holdout → compare test vs control on visits, purchases, brand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4407408"/>
            <a:ext cx="850392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4453128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D4029"/>
                </a:solidFill>
                <a:latin typeface="Arial"/>
              </a:rPr>
              <a:t>~$909K combined investment  |  All DMAs pre-matched on historical enrollment and web traffic baselines.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40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" y="210312"/>
            <a:ext cx="8503920" cy="658368"/>
          </a:xfrm>
          <a:prstGeom prst="rect">
            <a:avLst/>
          </a:prstGeom>
          <a:solidFill>
            <a:srgbClr val="ECF9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8321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D4029"/>
                </a:solidFill>
                <a:latin typeface="Arial"/>
              </a:rPr>
              <a:t>YouTube drove +237,500 incremental web visitors at $2.03 per visit — 66% relative lift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960120"/>
            <a:ext cx="3931920" cy="1463040"/>
          </a:xfrm>
          <a:prstGeom prst="rect">
            <a:avLst/>
          </a:prstGeom>
          <a:solidFill>
            <a:srgbClr val="1EC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69848"/>
            <a:ext cx="3703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How it was measured</a:t>
            </a:r>
          </a:p>
          <a:p>
            <a:pPr algn="l">
              <a:spcBef>
                <a:spcPts val="300"/>
              </a:spcBef>
            </a:pPr>
            <a:r>
              <a:rPr sz="1050" b="0">
                <a:solidFill>
                  <a:srgbClr val="FFFFFF"/>
                </a:solidFill>
                <a:latin typeface="Arial"/>
              </a:rPr>
              <a:t>Matched Markets + TBR geo experiment</a:t>
            </a:r>
          </a:p>
          <a:p>
            <a:pPr algn="l">
              <a:spcBef>
                <a:spcPts val="300"/>
              </a:spcBef>
            </a:pPr>
            <a:r>
              <a:rPr sz="1050" b="0">
                <a:solidFill>
                  <a:srgbClr val="FFFFFF"/>
                </a:solidFill>
                <a:latin typeface="Arial"/>
              </a:rPr>
              <a:t>41 treatment vs 49 control DMAs</a:t>
            </a:r>
          </a:p>
          <a:p>
            <a:pPr algn="l">
              <a:spcBef>
                <a:spcPts val="300"/>
              </a:spcBef>
            </a:pPr>
            <a:r>
              <a:rPr sz="1050" b="0">
                <a:solidFill>
                  <a:srgbClr val="FFFFFF"/>
                </a:solidFill>
                <a:latin typeface="Arial"/>
              </a:rPr>
              <a:t>Study: Mar 22 – Apr 15  |  Spend: $499,638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2514600"/>
            <a:ext cx="3931920" cy="1143000"/>
          </a:xfrm>
          <a:prstGeom prst="rect">
            <a:avLst/>
          </a:prstGeom>
          <a:solidFill>
            <a:srgbClr val="1EC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624328"/>
            <a:ext cx="37033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CTA taps: directional lift</a:t>
            </a:r>
          </a:p>
          <a:p>
            <a:pPr algn="l">
              <a:spcBef>
                <a:spcPts val="300"/>
              </a:spcBef>
            </a:pPr>
            <a:r>
              <a:rPr sz="1050" b="0">
                <a:solidFill>
                  <a:srgbClr val="FFFFFF"/>
                </a:solidFill>
                <a:latin typeface="Arial"/>
              </a:rPr>
              <a:t>+4,737 incremental taps  |  $102 iCPA</a:t>
            </a:r>
          </a:p>
          <a:p>
            <a:pPr algn="l">
              <a:spcBef>
                <a:spcPts val="300"/>
              </a:spcBef>
            </a:pPr>
            <a:r>
              <a:rPr sz="1050" b="0">
                <a:solidFill>
                  <a:srgbClr val="FFFFFF"/>
                </a:solidFill>
                <a:latin typeface="Arial"/>
              </a:rPr>
              <a:t>Directional — noisy data, poor pre-period fit</a:t>
            </a:r>
          </a:p>
        </p:txBody>
      </p:sp>
      <p:sp>
        <p:nvSpPr>
          <p:cNvPr id="8" name="Rectangle 7"/>
          <p:cNvSpPr/>
          <p:nvPr/>
        </p:nvSpPr>
        <p:spPr>
          <a:xfrm>
            <a:off x="4343400" y="960120"/>
            <a:ext cx="2194560" cy="1005840"/>
          </a:xfrm>
          <a:prstGeom prst="rect">
            <a:avLst/>
          </a:prstGeom>
          <a:solidFill>
            <a:srgbClr val="092E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0" y="100584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21C677"/>
                </a:solidFill>
                <a:latin typeface="Arial"/>
              </a:rPr>
              <a:t>+237.5K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150876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F2D2"/>
                </a:solidFill>
                <a:latin typeface="Arial"/>
              </a:rPr>
              <a:t>Absolute lift
(unique visitors)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629400" y="960120"/>
            <a:ext cx="2194560" cy="1005840"/>
          </a:xfrm>
          <a:prstGeom prst="rect">
            <a:avLst/>
          </a:prstGeom>
          <a:solidFill>
            <a:srgbClr val="092E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0" y="100584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21C677"/>
                </a:solidFill>
                <a:latin typeface="Arial"/>
              </a:rPr>
              <a:t>66.2%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150876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F2D2"/>
                </a:solidFill>
                <a:latin typeface="Arial"/>
              </a:rPr>
              <a:t>Relative lift vs.
counterfactual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43400" y="2084831"/>
            <a:ext cx="2194560" cy="1005840"/>
          </a:xfrm>
          <a:prstGeom prst="rect">
            <a:avLst/>
          </a:prstGeom>
          <a:solidFill>
            <a:srgbClr val="092E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20" y="2130551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21C677"/>
                </a:solidFill>
                <a:latin typeface="Arial"/>
              </a:rPr>
              <a:t>$2.03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2633472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F2D2"/>
                </a:solidFill>
                <a:latin typeface="Arial"/>
              </a:rPr>
              <a:t>iCPA
(per incremental visit)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629400" y="2084831"/>
            <a:ext cx="2194560" cy="1005840"/>
          </a:xfrm>
          <a:prstGeom prst="rect">
            <a:avLst/>
          </a:prstGeom>
          <a:solidFill>
            <a:srgbClr val="092E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75120" y="2130551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21C677"/>
                </a:solidFill>
                <a:latin typeface="Arial"/>
              </a:rPr>
              <a:t>39.8%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2633472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F2D2"/>
                </a:solidFill>
                <a:latin typeface="Arial"/>
              </a:rPr>
              <a:t>Incrementality
factor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4407408"/>
            <a:ext cx="850392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4453128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D4029"/>
                </a:solidFill>
                <a:latin typeface="Arial"/>
              </a:rPr>
              <a:t>Confidence interval: [233,547 – 241,562]  |  iCPA range: [$2.00 – $2.06]  |  Statistically significant.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40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" y="210312"/>
            <a:ext cx="8503920" cy="658368"/>
          </a:xfrm>
          <a:prstGeom prst="rect">
            <a:avLst/>
          </a:prstGeom>
          <a:solidFill>
            <a:srgbClr val="ECF9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8321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D4029"/>
                </a:solidFill>
                <a:latin typeface="Arial"/>
              </a:rPr>
              <a:t>Meta drove 120% more homepage visits — &gt;99.9% statistical confidence at $191/visit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960120"/>
            <a:ext cx="3931920" cy="1463040"/>
          </a:xfrm>
          <a:prstGeom prst="rect">
            <a:avLst/>
          </a:prstGeom>
          <a:solidFill>
            <a:srgbClr val="1EC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69848"/>
            <a:ext cx="3703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How it was measured</a:t>
            </a:r>
          </a:p>
          <a:p>
            <a:pPr algn="l">
              <a:spcBef>
                <a:spcPts val="300"/>
              </a:spcBef>
            </a:pPr>
            <a:r>
              <a:rPr sz="1050" b="0">
                <a:solidFill>
                  <a:srgbClr val="FFFFFF"/>
                </a:solidFill>
                <a:latin typeface="Arial"/>
              </a:rPr>
              <a:t>Meta Conversion Lift — 10% user holdout</a:t>
            </a:r>
          </a:p>
          <a:p>
            <a:pPr algn="l">
              <a:spcBef>
                <a:spcPts val="300"/>
              </a:spcBef>
            </a:pPr>
            <a:r>
              <a:rPr sz="1050" b="0">
                <a:solidFill>
                  <a:srgbClr val="FFFFFF"/>
                </a:solidFill>
                <a:latin typeface="Arial"/>
              </a:rPr>
              <a:t>28-day study: Mar 18 – Apr 15</a:t>
            </a:r>
          </a:p>
          <a:p>
            <a:pPr algn="l">
              <a:spcBef>
                <a:spcPts val="300"/>
              </a:spcBef>
            </a:pPr>
            <a:r>
              <a:rPr sz="1050" b="0">
                <a:solidFill>
                  <a:srgbClr val="FFFFFF"/>
                </a:solidFill>
                <a:latin typeface="Arial"/>
              </a:rPr>
              <a:t>Reach: 4.38M  |  Frequency: 5.7x  |  Spend: $409K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2514600"/>
            <a:ext cx="3931920" cy="1143000"/>
          </a:xfrm>
          <a:prstGeom prst="rect">
            <a:avLst/>
          </a:prstGeom>
          <a:solidFill>
            <a:srgbClr val="1EC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624328"/>
            <a:ext cx="37033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What the lift looks like</a:t>
            </a:r>
          </a:p>
          <a:p>
            <a:pPr algn="l">
              <a:spcBef>
                <a:spcPts val="300"/>
              </a:spcBef>
            </a:pPr>
            <a:r>
              <a:rPr sz="1050" b="0">
                <a:solidFill>
                  <a:srgbClr val="FFFFFF"/>
                </a:solidFill>
                <a:latin typeface="Arial"/>
              </a:rPr>
              <a:t>Test group: 3,933 visits vs 1,790 estimated in control</a:t>
            </a:r>
          </a:p>
          <a:p>
            <a:pPr algn="l">
              <a:spcBef>
                <a:spcPts val="300"/>
              </a:spcBef>
            </a:pPr>
            <a:r>
              <a:rPr sz="1050" b="0">
                <a:solidFill>
                  <a:srgbClr val="FFFFFF"/>
                </a:solidFill>
                <a:latin typeface="Arial"/>
              </a:rPr>
              <a:t>~120% relative lift on primary objective</a:t>
            </a:r>
          </a:p>
        </p:txBody>
      </p:sp>
      <p:sp>
        <p:nvSpPr>
          <p:cNvPr id="8" name="Rectangle 7"/>
          <p:cNvSpPr/>
          <p:nvPr/>
        </p:nvSpPr>
        <p:spPr>
          <a:xfrm>
            <a:off x="4343400" y="960120"/>
            <a:ext cx="2194560" cy="1005840"/>
          </a:xfrm>
          <a:prstGeom prst="rect">
            <a:avLst/>
          </a:prstGeom>
          <a:solidFill>
            <a:srgbClr val="092E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0" y="100584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21C677"/>
                </a:solidFill>
                <a:latin typeface="Arial"/>
              </a:rPr>
              <a:t>+2,143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150876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F2D2"/>
                </a:solidFill>
                <a:latin typeface="Arial"/>
              </a:rPr>
              <a:t>Absolute lift
(homepage visits)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629400" y="960120"/>
            <a:ext cx="2194560" cy="1005840"/>
          </a:xfrm>
          <a:prstGeom prst="rect">
            <a:avLst/>
          </a:prstGeom>
          <a:solidFill>
            <a:srgbClr val="092E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0" y="100584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21C677"/>
                </a:solidFill>
                <a:latin typeface="Arial"/>
              </a:rPr>
              <a:t>&gt;99.9%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150876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F2D2"/>
                </a:solidFill>
                <a:latin typeface="Arial"/>
              </a:rPr>
              <a:t>Lift score
(highest possible)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43400" y="2084831"/>
            <a:ext cx="2194560" cy="1005840"/>
          </a:xfrm>
          <a:prstGeom prst="rect">
            <a:avLst/>
          </a:prstGeom>
          <a:solidFill>
            <a:srgbClr val="092E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20" y="2130551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21C677"/>
                </a:solidFill>
                <a:latin typeface="Arial"/>
              </a:rPr>
              <a:t>$191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2633472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F2D2"/>
                </a:solidFill>
                <a:latin typeface="Arial"/>
              </a:rPr>
              <a:t>Cost per
incremental visit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629400" y="2084831"/>
            <a:ext cx="2194560" cy="1005840"/>
          </a:xfrm>
          <a:prstGeom prst="rect">
            <a:avLst/>
          </a:prstGeom>
          <a:solidFill>
            <a:srgbClr val="092E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75120" y="2130551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21C677"/>
                </a:solidFill>
                <a:latin typeface="Arial"/>
              </a:rPr>
              <a:t>~120%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2633472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F2D2"/>
                </a:solidFill>
                <a:latin typeface="Arial"/>
              </a:rPr>
              <a:t>Relative lift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4407408"/>
            <a:ext cx="850392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4453128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D4029"/>
                </a:solidFill>
                <a:latin typeface="Arial"/>
              </a:rPr>
              <a:t>Primary objective achieved with highest possible confidence. CI: 2,000 – 5,000  |  Study ID: 958822573360737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40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" y="210312"/>
            <a:ext cx="8503920" cy="658368"/>
          </a:xfrm>
          <a:prstGeom prst="rect">
            <a:avLst/>
          </a:prstGeom>
          <a:solidFill>
            <a:srgbClr val="ECF9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8321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D4029"/>
                </a:solidFill>
                <a:latin typeface="Arial"/>
              </a:rPr>
              <a:t>Meta drove consideration 13× the industry benchmark and dominated share of voice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960120"/>
            <a:ext cx="4251960" cy="2286000"/>
          </a:xfrm>
          <a:prstGeom prst="rect">
            <a:avLst/>
          </a:prstGeom>
          <a:solidFill>
            <a:srgbClr val="1EC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69848"/>
            <a:ext cx="40233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Consideration  +7.8 pts  |  &gt;99.9% confidence</a:t>
            </a:r>
          </a:p>
          <a:p>
            <a:pPr algn="l">
              <a:spcBef>
                <a:spcPts val="300"/>
              </a:spcBef>
            </a:pPr>
            <a:r>
              <a:rPr sz="1050" b="0">
                <a:solidFill>
                  <a:srgbClr val="FFFFFF"/>
                </a:solidFill>
                <a:latin typeface="Arial"/>
              </a:rPr>
              <a:t>13× industry benchmark (+0.6)  |  4× regional (+2.1)</a:t>
            </a:r>
          </a:p>
          <a:p>
            <a:pPr algn="l">
              <a:spcBef>
                <a:spcPts val="300"/>
              </a:spcBef>
            </a:pPr>
            <a:r>
              <a:rPr sz="1050" b="0">
                <a:solidFill>
                  <a:srgbClr val="FFFFFF"/>
                </a:solidFill>
                <a:latin typeface="Arial"/>
              </a:rPr>
              <a:t>10.2% of audience moved OUT of 'will not consider'</a:t>
            </a:r>
          </a:p>
          <a:p>
            <a:pPr algn="l">
              <a:spcBef>
                <a:spcPts val="300"/>
              </a:spcBef>
            </a:pPr>
            <a:r>
              <a:rPr sz="1050" b="0">
                <a:solidFill>
                  <a:srgbClr val="FFFFFF"/>
                </a:solidFill>
                <a:latin typeface="Arial"/>
              </a:rPr>
              <a:t>'Only brand I will consider' grew +64% relative</a:t>
            </a:r>
          </a:p>
        </p:txBody>
      </p:sp>
      <p:sp>
        <p:nvSpPr>
          <p:cNvPr id="6" name="Rectangle 5"/>
          <p:cNvSpPr/>
          <p:nvPr/>
        </p:nvSpPr>
        <p:spPr>
          <a:xfrm>
            <a:off x="4663440" y="960120"/>
            <a:ext cx="4160520" cy="2286000"/>
          </a:xfrm>
          <a:prstGeom prst="rect">
            <a:avLst/>
          </a:prstGeom>
          <a:solidFill>
            <a:srgbClr val="1EC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800600" y="1069848"/>
            <a:ext cx="39319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Unaided Ad Recall  +7.2 pts  |  &gt;99.9% confidence</a:t>
            </a:r>
          </a:p>
          <a:p>
            <a:pPr algn="l">
              <a:spcBef>
                <a:spcPts val="300"/>
              </a:spcBef>
            </a:pPr>
            <a:r>
              <a:rPr sz="1050" b="0">
                <a:solidFill>
                  <a:srgbClr val="FFFFFF"/>
                </a:solidFill>
                <a:latin typeface="Arial"/>
              </a:rPr>
              <a:t>Beats industry benchmark (+4.9 pts)</a:t>
            </a:r>
          </a:p>
          <a:p>
            <a:pPr algn="l">
              <a:spcBef>
                <a:spcPts val="300"/>
              </a:spcBef>
            </a:pPr>
            <a:r>
              <a:rPr sz="1050" b="0">
                <a:solidFill>
                  <a:srgbClr val="FFFFFF"/>
                </a:solidFill>
                <a:latin typeface="Arial"/>
              </a:rPr>
              <a:t>Every competitor's recall DECLINED during campaign:</a:t>
            </a:r>
          </a:p>
          <a:p>
            <a:pPr algn="l">
              <a:spcBef>
                <a:spcPts val="300"/>
              </a:spcBef>
            </a:pPr>
            <a:r>
              <a:rPr sz="1050" b="0">
                <a:solidFill>
                  <a:srgbClr val="FFFFFF"/>
                </a:solidFill>
                <a:latin typeface="Arial"/>
              </a:rPr>
              <a:t>Capital One −2.4  |  Chase −1.8  |  Cash App −1.0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3337560"/>
            <a:ext cx="8503920" cy="914400"/>
          </a:xfrm>
          <a:prstGeom prst="rect">
            <a:avLst/>
          </a:prstGeom>
          <a:solidFill>
            <a:srgbClr val="1EC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3447288"/>
            <a:ext cx="8275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Unaided Brand Awareness  +1.7 pts  (directional)</a:t>
            </a:r>
          </a:p>
          <a:p>
            <a:pPr algn="l">
              <a:spcBef>
                <a:spcPts val="300"/>
              </a:spcBef>
            </a:pPr>
            <a:r>
              <a:rPr sz="1050" b="0">
                <a:solidFill>
                  <a:srgbClr val="FFFFFF"/>
                </a:solidFill>
                <a:latin typeface="Arial"/>
              </a:rPr>
              <a:t>65% confidence  |  Baseline already at 51% — inherently hard to move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4407408"/>
            <a:ext cx="850392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4453128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D4029"/>
                </a:solidFill>
                <a:latin typeface="Arial"/>
              </a:rPr>
              <a:t>Stat sig lift (90%+ confidence) across ALL age and gender cohorts — 18–24 through 65+.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40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" y="210312"/>
            <a:ext cx="8503920" cy="658368"/>
          </a:xfrm>
          <a:prstGeom prst="rect">
            <a:avLst/>
          </a:prstGeom>
          <a:solidFill>
            <a:srgbClr val="ECF9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8321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D4029"/>
                </a:solidFill>
                <a:latin typeface="Arial"/>
              </a:rPr>
              <a:t>Directional positive on enrollments on both channels — not statistically conclusive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960120"/>
            <a:ext cx="4251960" cy="1828800"/>
          </a:xfrm>
          <a:prstGeom prst="rect">
            <a:avLst/>
          </a:prstGeom>
          <a:solidFill>
            <a:srgbClr val="1EC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69848"/>
            <a:ext cx="40233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YouTube — enrollment impact</a:t>
            </a:r>
          </a:p>
          <a:p>
            <a:pPr algn="l">
              <a:spcBef>
                <a:spcPts val="300"/>
              </a:spcBef>
            </a:pPr>
            <a:r>
              <a:rPr sz="1050" b="0">
                <a:solidFill>
                  <a:srgbClr val="FFFFFF"/>
                </a:solidFill>
                <a:latin typeface="Arial"/>
              </a:rPr>
              <a:t>Result: Directional positive, not stat sig</a:t>
            </a:r>
          </a:p>
          <a:p>
            <a:pPr algn="l">
              <a:spcBef>
                <a:spcPts val="300"/>
              </a:spcBef>
            </a:pPr>
            <a:r>
              <a:rPr sz="1050" b="0">
                <a:solidFill>
                  <a:srgbClr val="FFFFFF"/>
                </a:solidFill>
                <a:latin typeface="Arial"/>
              </a:rPr>
              <a:t>TBR on enrollments shows positive point estimate</a:t>
            </a:r>
          </a:p>
          <a:p>
            <a:pPr algn="l">
              <a:spcBef>
                <a:spcPts val="300"/>
              </a:spcBef>
            </a:pPr>
            <a:r>
              <a:rPr sz="1050" b="0">
                <a:solidFill>
                  <a:srgbClr val="FFFFFF"/>
                </a:solidFill>
                <a:latin typeface="Arial"/>
              </a:rPr>
              <a:t>Wide CIs — sparse DMA-level volume limits detection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663440" y="960120"/>
            <a:ext cx="4160520" cy="1828800"/>
          </a:xfrm>
          <a:prstGeom prst="rect">
            <a:avLst/>
          </a:prstGeom>
          <a:solidFill>
            <a:srgbClr val="1EC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800600" y="1069848"/>
            <a:ext cx="39319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Meta — enrollment impact</a:t>
            </a:r>
          </a:p>
          <a:p>
            <a:pPr algn="l">
              <a:spcBef>
                <a:spcPts val="300"/>
              </a:spcBef>
            </a:pPr>
            <a:r>
              <a:rPr sz="1050" b="0">
                <a:solidFill>
                  <a:srgbClr val="FFFFFF"/>
                </a:solidFill>
                <a:latin typeface="Arial"/>
              </a:rPr>
              <a:t>+103 incremental purchases  |  68% confidence</a:t>
            </a:r>
          </a:p>
          <a:p>
            <a:pPr algn="l">
              <a:spcBef>
                <a:spcPts val="300"/>
              </a:spcBef>
            </a:pPr>
            <a:r>
              <a:rPr sz="1050" b="0">
                <a:solidFill>
                  <a:srgbClr val="FFFFFF"/>
                </a:solidFill>
                <a:latin typeface="Arial"/>
              </a:rPr>
              <a:t>$3,969 cost per incremental enrollment</a:t>
            </a:r>
          </a:p>
          <a:p>
            <a:pPr algn="l">
              <a:spcBef>
                <a:spcPts val="300"/>
              </a:spcBef>
            </a:pPr>
            <a:r>
              <a:rPr sz="1050" b="0">
                <a:solidFill>
                  <a:srgbClr val="FFFFFF"/>
                </a:solidFill>
                <a:latin typeface="Arial"/>
              </a:rPr>
              <a:t>Positive direction — below 90% significance threshold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2880360"/>
            <a:ext cx="8503920" cy="1371600"/>
          </a:xfrm>
          <a:prstGeom prst="rect">
            <a:avLst/>
          </a:prstGeom>
          <a:solidFill>
            <a:srgbClr val="1EC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990088"/>
            <a:ext cx="8275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Why no stat sig lift — and what that means</a:t>
            </a:r>
          </a:p>
          <a:p>
            <a:pPr algn="l">
              <a:spcBef>
                <a:spcPts val="300"/>
              </a:spcBef>
            </a:pPr>
            <a:r>
              <a:rPr sz="1050" b="0">
                <a:solidFill>
                  <a:srgbClr val="FFFFFF"/>
                </a:solidFill>
                <a:latin typeface="Arial"/>
              </a:rPr>
              <a:t>Mid-funnel targets awareness/consideration, not direct response</a:t>
            </a:r>
          </a:p>
          <a:p>
            <a:pPr algn="l">
              <a:spcBef>
                <a:spcPts val="300"/>
              </a:spcBef>
            </a:pPr>
            <a:r>
              <a:rPr sz="1050" b="0">
                <a:solidFill>
                  <a:srgbClr val="FFFFFF"/>
                </a:solidFill>
                <a:latin typeface="Arial"/>
              </a:rPr>
              <a:t>28-day window may not fully capture enrollment lag</a:t>
            </a:r>
          </a:p>
          <a:p>
            <a:pPr algn="l">
              <a:spcBef>
                <a:spcPts val="300"/>
              </a:spcBef>
            </a:pPr>
            <a:r>
              <a:rPr sz="1050" b="0">
                <a:solidFill>
                  <a:srgbClr val="FFFFFF"/>
                </a:solidFill>
                <a:latin typeface="Arial"/>
              </a:rPr>
              <a:t>Low enrollment volume per DMA → wide confidence intervals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4407408"/>
            <a:ext cx="850392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4453128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D4029"/>
                </a:solidFill>
                <a:latin typeface="Arial"/>
              </a:rPr>
              <a:t>Both channels show the right direction. Longer test + more volume needed to reach statistical significance.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40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" y="210312"/>
            <a:ext cx="8503920" cy="658368"/>
          </a:xfrm>
          <a:prstGeom prst="rect">
            <a:avLst/>
          </a:prstGeom>
          <a:solidFill>
            <a:srgbClr val="ECF9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8321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D4029"/>
                </a:solidFill>
                <a:latin typeface="Arial"/>
              </a:rPr>
              <a:t>Run mid-funnel + DR together to measure funnel efficiency and enrollment impact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960120"/>
            <a:ext cx="4251960" cy="1783080"/>
          </a:xfrm>
          <a:prstGeom prst="rect">
            <a:avLst/>
          </a:prstGeom>
          <a:solidFill>
            <a:srgbClr val="1EC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69848"/>
            <a:ext cx="402336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The hypothesis</a:t>
            </a:r>
          </a:p>
          <a:p>
            <a:pPr algn="l">
              <a:spcBef>
                <a:spcPts val="300"/>
              </a:spcBef>
            </a:pPr>
            <a:r>
              <a:rPr sz="1050" b="0">
                <a:solidFill>
                  <a:srgbClr val="FFFFFF"/>
                </a:solidFill>
                <a:latin typeface="Arial"/>
              </a:rPr>
              <a:t>Mid-funnel builds consideration → DR converts it</a:t>
            </a:r>
          </a:p>
          <a:p>
            <a:pPr algn="l">
              <a:spcBef>
                <a:spcPts val="300"/>
              </a:spcBef>
            </a:pPr>
            <a:r>
              <a:rPr sz="1050" b="0">
                <a:solidFill>
                  <a:srgbClr val="FFFFFF"/>
                </a:solidFill>
                <a:latin typeface="Arial"/>
              </a:rPr>
              <a:t>Combined approach may improve DR efficiency (lower CPA)</a:t>
            </a:r>
          </a:p>
          <a:p>
            <a:pPr algn="l">
              <a:spcBef>
                <a:spcPts val="300"/>
              </a:spcBef>
            </a:pPr>
            <a:r>
              <a:rPr sz="1050" b="0">
                <a:solidFill>
                  <a:srgbClr val="FFFFFF"/>
                </a:solidFill>
                <a:latin typeface="Arial"/>
              </a:rPr>
              <a:t>Or drive more total enrollments by expanding top of funnel</a:t>
            </a:r>
          </a:p>
        </p:txBody>
      </p:sp>
      <p:sp>
        <p:nvSpPr>
          <p:cNvPr id="6" name="Rectangle 5"/>
          <p:cNvSpPr/>
          <p:nvPr/>
        </p:nvSpPr>
        <p:spPr>
          <a:xfrm>
            <a:off x="4663440" y="960120"/>
            <a:ext cx="4160520" cy="1783080"/>
          </a:xfrm>
          <a:prstGeom prst="rect">
            <a:avLst/>
          </a:prstGeom>
          <a:solidFill>
            <a:srgbClr val="1EC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800600" y="1069848"/>
            <a:ext cx="393192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Proposed test design</a:t>
            </a:r>
          </a:p>
          <a:p>
            <a:pPr algn="l">
              <a:spcBef>
                <a:spcPts val="300"/>
              </a:spcBef>
            </a:pPr>
            <a:r>
              <a:rPr sz="1050" b="0">
                <a:solidFill>
                  <a:srgbClr val="FFFFFF"/>
                </a:solidFill>
                <a:latin typeface="Arial"/>
              </a:rPr>
              <a:t>Cell 1: Mid-funnel + DR  vs  Cell 2: DR only</a:t>
            </a:r>
          </a:p>
          <a:p>
            <a:pPr algn="l">
              <a:spcBef>
                <a:spcPts val="300"/>
              </a:spcBef>
            </a:pPr>
            <a:r>
              <a:rPr sz="1050" b="0">
                <a:solidFill>
                  <a:srgbClr val="FFFFFF"/>
                </a:solidFill>
                <a:latin typeface="Arial"/>
              </a:rPr>
              <a:t>Measure: enrollment lift, CPA, iCPA across both cells</a:t>
            </a:r>
          </a:p>
          <a:p>
            <a:pPr algn="l">
              <a:spcBef>
                <a:spcPts val="300"/>
              </a:spcBef>
            </a:pPr>
            <a:r>
              <a:rPr sz="1050" b="0">
                <a:solidFill>
                  <a:srgbClr val="FFFFFF"/>
                </a:solidFill>
                <a:latin typeface="Arial"/>
              </a:rPr>
              <a:t>Duration: 6–8 weeks minimum to capture conversion lag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2834640"/>
            <a:ext cx="8503920" cy="1463040"/>
          </a:xfrm>
          <a:prstGeom prst="rect">
            <a:avLst/>
          </a:prstGeom>
          <a:solidFill>
            <a:srgbClr val="1EC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944368"/>
            <a:ext cx="8275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We will scope this with Google and Meta as our next step.</a:t>
            </a:r>
          </a:p>
          <a:p>
            <a:pPr algn="l">
              <a:spcBef>
                <a:spcPts val="300"/>
              </a:spcBef>
            </a:pPr>
            <a:r>
              <a:rPr sz="1050" b="0">
                <a:solidFill>
                  <a:srgbClr val="FFFFFF"/>
                </a:solidFill>
                <a:latin typeface="Arial"/>
              </a:rPr>
              <a:t>Also answers: Is YouTube or Meta more efficient at driving enrollments?</a:t>
            </a:r>
          </a:p>
          <a:p>
            <a:pPr algn="l">
              <a:spcBef>
                <a:spcPts val="300"/>
              </a:spcBef>
            </a:pPr>
            <a:r>
              <a:rPr sz="1050" b="0">
                <a:solidFill>
                  <a:srgbClr val="FFFFFF"/>
                </a:solidFill>
                <a:latin typeface="Arial"/>
              </a:rPr>
              <a:t>What is the right budget split between mid-funnel and DR?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4407408"/>
            <a:ext cx="850392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4453128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D4029"/>
                </a:solidFill>
                <a:latin typeface="Arial"/>
              </a:rPr>
              <a:t>Mid-funnel is proven to drive consideration and web intent. Next step is connecting it to enrollment outcomes.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40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" y="1417320"/>
            <a:ext cx="6858000" cy="1828800"/>
          </a:xfrm>
          <a:prstGeom prst="rect">
            <a:avLst/>
          </a:prstGeom>
          <a:solidFill>
            <a:srgbClr val="0A3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536192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ECF9EE"/>
                </a:solidFill>
                <a:latin typeface="Arial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606040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1C677"/>
                </a:solidFill>
                <a:latin typeface="Arial"/>
              </a:rPr>
              <a:t>Appendix on next slides.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6634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FB399"/>
                </a:solidFill>
                <a:latin typeface="Arial"/>
              </a:rPr>
              <a:t>Chime Marketing  |  May 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40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" y="210312"/>
            <a:ext cx="8503920" cy="658368"/>
          </a:xfrm>
          <a:prstGeom prst="rect">
            <a:avLst/>
          </a:prstGeom>
          <a:solidFill>
            <a:srgbClr val="ECF9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8321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D4029"/>
                </a:solidFill>
                <a:latin typeface="Arial"/>
              </a:rPr>
              <a:t>Appendix: Apples-to-apples cross-channel comparison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960120"/>
            <a:ext cx="2560320" cy="402336"/>
          </a:xfrm>
          <a:prstGeom prst="rect">
            <a:avLst/>
          </a:prstGeom>
          <a:solidFill>
            <a:srgbClr val="1EC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79" y="1005840"/>
            <a:ext cx="2423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Arial"/>
              </a:rPr>
              <a:t>Metric</a:t>
            </a:r>
          </a:p>
        </p:txBody>
      </p:sp>
      <p:sp>
        <p:nvSpPr>
          <p:cNvPr id="6" name="Rectangle 5"/>
          <p:cNvSpPr/>
          <p:nvPr/>
        </p:nvSpPr>
        <p:spPr>
          <a:xfrm>
            <a:off x="2880360" y="960120"/>
            <a:ext cx="2926080" cy="402336"/>
          </a:xfrm>
          <a:prstGeom prst="rect">
            <a:avLst/>
          </a:prstGeom>
          <a:solidFill>
            <a:srgbClr val="1EC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71800" y="1005840"/>
            <a:ext cx="2788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Arial"/>
              </a:rPr>
              <a:t>YouTube (TBR)</a:t>
            </a:r>
          </a:p>
        </p:txBody>
      </p:sp>
      <p:sp>
        <p:nvSpPr>
          <p:cNvPr id="8" name="Rectangle 7"/>
          <p:cNvSpPr/>
          <p:nvPr/>
        </p:nvSpPr>
        <p:spPr>
          <a:xfrm>
            <a:off x="5806440" y="960120"/>
            <a:ext cx="2743200" cy="402336"/>
          </a:xfrm>
          <a:prstGeom prst="rect">
            <a:avLst/>
          </a:prstGeom>
          <a:solidFill>
            <a:srgbClr val="1EC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97879" y="1005840"/>
            <a:ext cx="2606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Arial"/>
              </a:rPr>
              <a:t>Meta (Conversion Lift)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362456"/>
            <a:ext cx="2560320" cy="402336"/>
          </a:xfrm>
          <a:prstGeom prst="rect">
            <a:avLst/>
          </a:prstGeom>
          <a:solidFill>
            <a:srgbClr val="0A3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79" y="1408176"/>
            <a:ext cx="2423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F2D2"/>
                </a:solidFill>
                <a:latin typeface="Arial"/>
              </a:rPr>
              <a:t>Methodology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80360" y="1362456"/>
            <a:ext cx="2926080" cy="402336"/>
          </a:xfrm>
          <a:prstGeom prst="rect">
            <a:avLst/>
          </a:prstGeom>
          <a:solidFill>
            <a:srgbClr val="0A3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71800" y="1408176"/>
            <a:ext cx="2788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F2D2"/>
                </a:solidFill>
                <a:latin typeface="Arial"/>
              </a:rPr>
              <a:t>Geo-level DMA holdout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806440" y="1362456"/>
            <a:ext cx="2743200" cy="402336"/>
          </a:xfrm>
          <a:prstGeom prst="rect">
            <a:avLst/>
          </a:prstGeom>
          <a:solidFill>
            <a:srgbClr val="0A3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97879" y="1408176"/>
            <a:ext cx="2606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F2D2"/>
                </a:solidFill>
                <a:latin typeface="Arial"/>
              </a:rPr>
              <a:t>User-level 10% holdout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1764792"/>
            <a:ext cx="2560320" cy="402336"/>
          </a:xfrm>
          <a:prstGeom prst="rect">
            <a:avLst/>
          </a:prstGeom>
          <a:solidFill>
            <a:srgbClr val="092E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79" y="1810512"/>
            <a:ext cx="2423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F2D2"/>
                </a:solidFill>
                <a:latin typeface="Arial"/>
              </a:rPr>
              <a:t>Web Visitor Lift (abs.)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880360" y="1764792"/>
            <a:ext cx="2926080" cy="402336"/>
          </a:xfrm>
          <a:prstGeom prst="rect">
            <a:avLst/>
          </a:prstGeom>
          <a:solidFill>
            <a:srgbClr val="092E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971800" y="1810512"/>
            <a:ext cx="2788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F2D2"/>
                </a:solidFill>
                <a:latin typeface="Arial"/>
              </a:rPr>
              <a:t>+237,500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806440" y="1764792"/>
            <a:ext cx="2743200" cy="402336"/>
          </a:xfrm>
          <a:prstGeom prst="rect">
            <a:avLst/>
          </a:prstGeom>
          <a:solidFill>
            <a:srgbClr val="092E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97879" y="1810512"/>
            <a:ext cx="2606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F2D2"/>
                </a:solidFill>
                <a:latin typeface="Arial"/>
              </a:rPr>
              <a:t>+2,143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2167128"/>
            <a:ext cx="2560320" cy="402336"/>
          </a:xfrm>
          <a:prstGeom prst="rect">
            <a:avLst/>
          </a:prstGeom>
          <a:solidFill>
            <a:srgbClr val="0A3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79" y="2212848"/>
            <a:ext cx="2423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F2D2"/>
                </a:solidFill>
                <a:latin typeface="Arial"/>
              </a:rPr>
              <a:t>Web Visitor Relative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880360" y="2167128"/>
            <a:ext cx="2926080" cy="402336"/>
          </a:xfrm>
          <a:prstGeom prst="rect">
            <a:avLst/>
          </a:prstGeom>
          <a:solidFill>
            <a:srgbClr val="0A3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971800" y="2212848"/>
            <a:ext cx="2788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1C677"/>
                </a:solidFill>
                <a:latin typeface="Arial"/>
              </a:rPr>
              <a:t>+66.2%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806440" y="2167128"/>
            <a:ext cx="2743200" cy="402336"/>
          </a:xfrm>
          <a:prstGeom prst="rect">
            <a:avLst/>
          </a:prstGeom>
          <a:solidFill>
            <a:srgbClr val="0A3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897879" y="2212848"/>
            <a:ext cx="2606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1C677"/>
                </a:solidFill>
                <a:latin typeface="Arial"/>
              </a:rPr>
              <a:t>~120%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2569464"/>
            <a:ext cx="2560320" cy="402336"/>
          </a:xfrm>
          <a:prstGeom prst="rect">
            <a:avLst/>
          </a:prstGeom>
          <a:solidFill>
            <a:srgbClr val="092E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11479" y="2615184"/>
            <a:ext cx="2423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F2D2"/>
                </a:solidFill>
                <a:latin typeface="Arial"/>
              </a:rPr>
              <a:t>Web Visitor iCPA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880360" y="2569464"/>
            <a:ext cx="2926080" cy="402336"/>
          </a:xfrm>
          <a:prstGeom prst="rect">
            <a:avLst/>
          </a:prstGeom>
          <a:solidFill>
            <a:srgbClr val="092E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971800" y="2615184"/>
            <a:ext cx="2788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1C677"/>
                </a:solidFill>
                <a:latin typeface="Arial"/>
              </a:rPr>
              <a:t>$2.03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806440" y="2569464"/>
            <a:ext cx="2743200" cy="402336"/>
          </a:xfrm>
          <a:prstGeom prst="rect">
            <a:avLst/>
          </a:prstGeom>
          <a:solidFill>
            <a:srgbClr val="092E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897879" y="2615184"/>
            <a:ext cx="2606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1C677"/>
                </a:solidFill>
                <a:latin typeface="Arial"/>
              </a:rPr>
              <a:t>$191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0040" y="2971800"/>
            <a:ext cx="2560320" cy="402336"/>
          </a:xfrm>
          <a:prstGeom prst="rect">
            <a:avLst/>
          </a:prstGeom>
          <a:solidFill>
            <a:srgbClr val="0A3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11479" y="3017520"/>
            <a:ext cx="2423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F2D2"/>
                </a:solidFill>
                <a:latin typeface="Arial"/>
              </a:rPr>
              <a:t>Enrollment Lift (abs.)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880360" y="2971800"/>
            <a:ext cx="2926080" cy="402336"/>
          </a:xfrm>
          <a:prstGeom prst="rect">
            <a:avLst/>
          </a:prstGeom>
          <a:solidFill>
            <a:srgbClr val="0A3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971800" y="3017520"/>
            <a:ext cx="2788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1C677"/>
                </a:solidFill>
                <a:latin typeface="Arial"/>
              </a:rPr>
              <a:t>Directional positive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806440" y="2971800"/>
            <a:ext cx="2743200" cy="402336"/>
          </a:xfrm>
          <a:prstGeom prst="rect">
            <a:avLst/>
          </a:prstGeom>
          <a:solidFill>
            <a:srgbClr val="0A3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897879" y="3017520"/>
            <a:ext cx="2606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1C677"/>
                </a:solidFill>
                <a:latin typeface="Arial"/>
              </a:rPr>
              <a:t>+103 incremental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0040" y="3374136"/>
            <a:ext cx="2560320" cy="402336"/>
          </a:xfrm>
          <a:prstGeom prst="rect">
            <a:avLst/>
          </a:prstGeom>
          <a:solidFill>
            <a:srgbClr val="092E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11479" y="3419856"/>
            <a:ext cx="2423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F2D2"/>
                </a:solidFill>
                <a:latin typeface="Arial"/>
              </a:rPr>
              <a:t>Enrollment Confidence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880360" y="3374136"/>
            <a:ext cx="2926080" cy="402336"/>
          </a:xfrm>
          <a:prstGeom prst="rect">
            <a:avLst/>
          </a:prstGeom>
          <a:solidFill>
            <a:srgbClr val="092E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971800" y="3419856"/>
            <a:ext cx="2788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F2D2"/>
                </a:solidFill>
                <a:latin typeface="Arial"/>
              </a:rPr>
              <a:t>Below 90% threshold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806440" y="3374136"/>
            <a:ext cx="2743200" cy="402336"/>
          </a:xfrm>
          <a:prstGeom prst="rect">
            <a:avLst/>
          </a:prstGeom>
          <a:solidFill>
            <a:srgbClr val="092E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897879" y="3419856"/>
            <a:ext cx="2606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F2D2"/>
                </a:solidFill>
                <a:latin typeface="Arial"/>
              </a:rPr>
              <a:t>68% (below 90%)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20040" y="3776472"/>
            <a:ext cx="2560320" cy="402336"/>
          </a:xfrm>
          <a:prstGeom prst="rect">
            <a:avLst/>
          </a:prstGeom>
          <a:solidFill>
            <a:srgbClr val="0A3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11479" y="3822191"/>
            <a:ext cx="2423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F2D2"/>
                </a:solidFill>
                <a:latin typeface="Arial"/>
              </a:rPr>
              <a:t>Enrollment iCPA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880360" y="3776472"/>
            <a:ext cx="2926080" cy="402336"/>
          </a:xfrm>
          <a:prstGeom prst="rect">
            <a:avLst/>
          </a:prstGeom>
          <a:solidFill>
            <a:srgbClr val="0A3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971800" y="3822191"/>
            <a:ext cx="2788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F2D2"/>
                </a:solidFill>
                <a:latin typeface="Arial"/>
              </a:rPr>
              <a:t>See Hex TBR analysis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806440" y="3776472"/>
            <a:ext cx="2743200" cy="402336"/>
          </a:xfrm>
          <a:prstGeom prst="rect">
            <a:avLst/>
          </a:prstGeom>
          <a:solidFill>
            <a:srgbClr val="0A3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897879" y="3822191"/>
            <a:ext cx="2606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F2D2"/>
                </a:solidFill>
                <a:latin typeface="Arial"/>
              </a:rPr>
              <a:t>$3,969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20040" y="4407408"/>
            <a:ext cx="850392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02920" y="4453128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D4029"/>
                </a:solidFill>
                <a:latin typeface="Arial"/>
              </a:rPr>
              <a:t>Note: YouTube (TBR) and Meta (Conversion Lift) use different methodologies — not directly comparable.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