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463040"/>
            <a:ext cx="6400800" cy="1645920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72768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CF9EE"/>
                </a:solidFill>
                <a:latin typeface="Arial"/>
              </a:rPr>
              <a:t>MID-FUNNEL TEST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1C677"/>
                </a:solidFill>
                <a:latin typeface="Arial"/>
              </a:rPr>
              <a:t>YouTube + Meta  |  March –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B399"/>
                </a:solidFill>
                <a:latin typeface="Arial"/>
              </a:rPr>
              <a:t>Chime Marketing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Mid-funnel advertising drives web intent and consideration at Chime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029200" cy="16002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800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worked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YouTube: +237.5K incremental web visitors  |  $2.03 iCPA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 web: +2,143 homepage visits  |  &gt;99.9% confidence  |  $191/visit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 brand: +7.8 pts Consideration — 13× industry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651760"/>
            <a:ext cx="5029200" cy="10058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6148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Enrollment signal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YouTube: +289 incremental enrollments (not sig)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Meta: −964 incremental (not sig)  |  Neither conclusive at this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96012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0058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66%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087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YouTube relative
web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96012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00584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&gt;99.9%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5087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Meta confidence
on web visits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205740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1031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13×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Meta Consideration
vs. benchmark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057400"/>
            <a:ext cx="214884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1031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$2.03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YouTube iCPA
(per web visitor)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Next: Run mid-funnel alongside DR campaigns to test whether it improves efficiency or drives more enrollments.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3-cell DMA geo test — YouTube vs Meta vs Control, March–April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Cell A — YouTube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Consideration video campaigns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$499,638 spend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41 treatment DMAs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069848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Cell B — Meta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Mid-funnel social campaigns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$409,000 spend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41 DMAs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60120"/>
            <a:ext cx="274320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69848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Cell C — Control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No mid-funnel running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Baseline measurement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49 DMAs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34640"/>
            <a:ext cx="5303520" cy="9144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44368"/>
            <a:ext cx="5074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Google measurement: Matched Markets + Time-Based Regression (TBR)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Pre-period fit → synthetic counterfactual → gap = incremental lift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0" y="2834640"/>
            <a:ext cx="3108960" cy="9144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944368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Meta measurement: Conversion Lift + Brand Lift Study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10% user holdout → compare test vs control on visits, purchases, brand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~$909K combined investment  |  All DMAs pre-matched on historical enrollment and web traffic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YouTube drove +237,500 incremental web visitors at $2.03 per visit — 66% relative 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931920" cy="14630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3703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How it was measured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Matched Markets + TBR geo experiment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41 treatment vs 49 control DMAs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Study: Mar 22 – Apr 15  |  Spend: $499,638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514600"/>
            <a:ext cx="3931920" cy="1143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24328"/>
            <a:ext cx="3703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CTA taps: directional lift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+4,737 incremental taps  |  $102 iCPA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Directional — noisy data, poor pre-period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+237.5K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Absolute lift
(unique visitors)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66.2%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Relative lift vs.
counterfactual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$2.03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iCPA
(per incremental visit)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39.8%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Incrementality
factor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Confidence interval: [233,547 – 241,562]  |  iCPA range: [$2.00 – $2.06]  |  Statistically significant.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Meta drove 120% more homepage visits — &gt;99.9% statistical confidence at $191/visit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931920" cy="14630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3703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How it was measured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 Conversion Lift — 10% user holdout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28-day study: Mar 18 – Apr 15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Reach: 4.38M  |  Frequency: 5.7x  |  Spend: $409K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514600"/>
            <a:ext cx="3931920" cy="1143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24328"/>
            <a:ext cx="3703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What the lift looks like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Test group: 3,933 visits vs 1,790 estimated in control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~120% relative lift on primary 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+2,143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Absolute lift
(homepage visits)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960120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05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&gt;99.9%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Lift score
(highest possible)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$191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Cost per
incremental visit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084831"/>
            <a:ext cx="2194560" cy="1005840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1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1C677"/>
                </a:solidFill>
                <a:latin typeface="Arial"/>
              </a:rPr>
              <a:t>~120%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334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F2D2"/>
                </a:solidFill>
                <a:latin typeface="Arial"/>
              </a:rPr>
              <a:t>Relative lift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Primary objective achieved with highest possible confidence. CI: 2,000 – 5,000  |  Study ID: 958822573360737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Meta drove consideration 13× the industry benchmark and dominated share of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251960" cy="2286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Consideration  +7.8 pts  |  &gt;99.9% confidence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13× industry benchmark (+0.6)  |  4× regional (+2.1)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10.2% of audience moved OUT of 'will not consider'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'Only brand I will consider' grew +64% relative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60120"/>
            <a:ext cx="4160520" cy="22860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069848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Unaided Ad Recall  +7.2 pts  |  &gt;99.9% confidence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Beats industry benchmark (+4.9 pts)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Every competitor's recall DECLINED during campaign: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Capital One −2.4  |  Chase −1.8  |  Cash App −1.0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337560"/>
            <a:ext cx="8503920" cy="9144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47288"/>
            <a:ext cx="8275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Unaided Brand Awareness  +1.7 pts  (directional)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65% confidence  |  Baseline already at 51% — inherently hard to move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Stat sig lift (90%+ confidence) across ALL age and gender cohorts — 18–24 through 65+.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Directional positive on enrollments on both channels — not statistically conclusive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251960" cy="18288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YouTube — enrollment impact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+289 incremental enrollments  |  +0.70%  |  Not stat sig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Geo TBR (Hex) — same methodology as web visitor analysis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Small effect vs. high noise per DMA: signal exists but needs more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60120"/>
            <a:ext cx="4160520" cy="18288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069848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Meta — enrollment impact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Hex TBR: −964 incremental enrollments  |  −2.36%  |  Not stat sig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Meta Conversion Lift: +103 purchases  |  68% confidence  |  Not sig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Both methods inconclusive — effect too small to separate from noise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80360"/>
            <a:ext cx="8503920" cy="137160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90088"/>
            <a:ext cx="8275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Why inconclusive — and what it means for next steps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Mid-funnel builds consideration; enrollment conversion takes longer than 28 days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Low per-DMA enrollment volume → wide CIs, hard to detect small lifts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Apr 1 outlier excluded from TBR (anomalous spike across all cells)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No stat sig enrollment impact detected. YouTube shows slight positive; Meta shows slight negative — both within noise range. Longer test + DR pairing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Run mid-funnel + DR together to measure funnel efficiency and enrollment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25196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4023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The hypothesis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Mid-funnel builds consideration → DR converts it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Combined approach may improve DR efficiency (lower CPA)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Or drive more total enrollments by expanding top of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60120"/>
            <a:ext cx="4160520" cy="178308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069848"/>
            <a:ext cx="3931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Proposed test design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Cell 1: Mid-funnel + DR  vs  Cell 2: DR only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Measure: enrollment lift, CPA, iCPA across both cells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Duration: 6–8 weeks minimum to capture conversion lag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8503920" cy="1463040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44368"/>
            <a:ext cx="8275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We will scope this with Google and Meta as our next step.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Also answers: Is YouTube or Meta more efficient at driving enrollments?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FFFFFF"/>
                </a:solidFill>
                <a:latin typeface="Arial"/>
              </a:rPr>
              <a:t>What is the right budget split between mid-funnel and DR?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Mid-funnel is proven to drive consideration and web intent. Next step is connecting it to enrollment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417320"/>
            <a:ext cx="6858000" cy="1828800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3619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CF9EE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C677"/>
                </a:solidFill>
                <a:latin typeface="Arial"/>
              </a:rPr>
              <a:t>Appendix on next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B399"/>
                </a:solidFill>
                <a:latin typeface="Arial"/>
              </a:rPr>
              <a:t>Chime Marketing  | 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10312"/>
            <a:ext cx="8503920" cy="658368"/>
          </a:xfrm>
          <a:prstGeom prst="rect">
            <a:avLst/>
          </a:prstGeom>
          <a:solidFill>
            <a:srgbClr val="EC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4029"/>
                </a:solidFill>
                <a:latin typeface="Arial"/>
              </a:rPr>
              <a:t>Appendix: Apples-to-apples cross-channel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560320" cy="402336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0584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960120"/>
            <a:ext cx="2926080" cy="402336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00584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YouTube (TBR)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960120"/>
            <a:ext cx="2743200" cy="402336"/>
          </a:xfrm>
          <a:prstGeom prst="rect">
            <a:avLst/>
          </a:prstGeom>
          <a:solidFill>
            <a:srgbClr val="1E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79" y="1005840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Meta (Conversion Lift)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62456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408176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Methodology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362456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08176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Geo-level DMA holdout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362456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140817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User-level 10% holdout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64792"/>
            <a:ext cx="256032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810512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Web Visitor Lift (abs.)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1764792"/>
            <a:ext cx="292608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1810512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+237,500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1764792"/>
            <a:ext cx="274320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79" y="181051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+2,143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67128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212848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Web Visitor Relative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167128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212848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+66.2%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167128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79" y="221284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~120%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69464"/>
            <a:ext cx="256032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2615184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Web Visitor iCPA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2569464"/>
            <a:ext cx="292608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71800" y="2615184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$2.03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2569464"/>
            <a:ext cx="274320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97879" y="261518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$191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71800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301752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Enrollment Lift (abs.)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971800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017520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+289 (not sig, +0.70%)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2971800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79" y="3017520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C677"/>
                </a:solidFill>
                <a:latin typeface="Arial"/>
              </a:rPr>
              <a:t>−964 (not sig, −2.36%)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374136"/>
            <a:ext cx="256032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3419856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Enrollment Confidence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80360" y="3374136"/>
            <a:ext cx="292608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71800" y="3419856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Below 90% threshold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06440" y="3374136"/>
            <a:ext cx="2743200" cy="402336"/>
          </a:xfrm>
          <a:prstGeom prst="rect">
            <a:avLst/>
          </a:prstGeom>
          <a:solidFill>
            <a:srgbClr val="092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79" y="341985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68% / TBR not sig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776472"/>
            <a:ext cx="256032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822191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Enrollment iCPA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776472"/>
            <a:ext cx="292608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3822191"/>
            <a:ext cx="2788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776472"/>
            <a:ext cx="2743200" cy="402336"/>
          </a:xfrm>
          <a:prstGeom prst="rect">
            <a:avLst/>
          </a:prstGeom>
          <a:solidFill>
            <a:srgbClr val="0A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7879" y="3822191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F2D2"/>
                </a:solidFill>
                <a:latin typeface="Arial"/>
              </a:rPr>
              <a:t>$3,969 (Conversion Lift)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407408"/>
            <a:ext cx="8503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4029"/>
                </a:solidFill>
                <a:latin typeface="Arial"/>
              </a:rPr>
              <a:t>Note: YouTube (TBR) and Meta (Conversion Lift) use different methodologies — not directly comparable.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